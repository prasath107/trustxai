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300" y="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585618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Introduce the project, team and research direction. Emphasize that this is a proposed Phase-I research framework.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the motivation: AI can detect threats, but security analysts also need understandable and reliable decisions.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State the problem without claiming that all existing research ignores trust. The precise gap will be refined through the literature survey.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Walk through the objectives. Stress that the Trust Score is proposed and will be validated, not a completed result.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the three-layer story: cyber threat detection, explainability, and trustworthy evaluation.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Describe the base paper as a starting point. Say that the literature survey will establish exactly what is novel and avoid overclaiming.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Spend time here. Faculty may ask, 'What exactly is your gap?' Answer: a systematic, evidence-based comparison across model, XAI and deployment criteria is the direction being investigated.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Walk through the pipeline from dataset to recommendation. Mention that the framework is the central architecture.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full forms if asked. The candidate list is not a promise to run every combination.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why accuracy alone is insufficient. The trust-oriented evaluation is the proposed contribution and must be experimentally validated.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that 'best' depends on the application. Do not claim any scenario winner before experiments.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preprocessing and dataset selection criteria. Avoid saying every dataset will definitely be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Present these as minimum/recommended requirements from the earlier project material.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the schedule and how Phase I literature work leads into implementation and evaluation.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Close with expected deliverables. Emphasize: no experimental results are being claimed at the first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2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6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11430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4ADCFF"/>
                </a:solidFill>
              </a:defRPr>
            </a:pPr>
            <a:r>
              <a:t>TRUSTXAI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783080"/>
            <a:ext cx="10332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700" b="1">
                <a:solidFill>
                  <a:srgbClr val="F5F8FC"/>
                </a:solidFill>
              </a:defRPr>
            </a:pPr>
            <a:r>
              <a:t>A Comprehensive Framework for Trustworthy</a:t>
            </a:r>
            <a:br/>
            <a:r>
              <a:t>Explainable Artificial Intelligence in Cyber Threat Detection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063240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FBED2"/>
                </a:solidFill>
              </a:defRPr>
            </a:pPr>
            <a:r>
              <a:t>First Review • Literature Review Meeting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0" y="3794760"/>
            <a:ext cx="6675120" cy="1325880"/>
          </a:xfrm>
          <a:prstGeom prst="roundRect">
            <a:avLst/>
          </a:prstGeom>
          <a:solidFill>
            <a:srgbClr val="102037"/>
          </a:solidFill>
          <a:ln>
            <a:solidFill>
              <a:srgbClr val="1E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926080" y="3941064"/>
            <a:ext cx="63093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ADCFF"/>
                </a:solidFill>
              </a:defRPr>
            </a:pPr>
            <a:r>
              <a:t>PROJECT TEAM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4325112"/>
            <a:ext cx="6309359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F5F8FC"/>
                </a:solidFill>
              </a:defRPr>
            </a:pPr>
            <a:r>
              <a:t>Gokul Vijay R  •  Prasath G  •  Sayee Naveen J S</a:t>
            </a:r>
            <a:br/>
            <a:r>
              <a:t>Department of CSE (Cyber Security)  |  Project Batch 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5349240"/>
            <a:ext cx="6675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5F8FC"/>
                </a:solidFill>
              </a:defRPr>
            </a:pPr>
            <a:r>
              <a:t>SRM Madurai College for Engineering &amp; Technology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5715000"/>
            <a:ext cx="6675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AFBED2"/>
                </a:solidFill>
              </a:defRPr>
            </a:pPr>
            <a:r>
              <a:t>Guide: Mr. S. Karuppasamy Pandian  |  Academic Year 2026–2027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6510528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FBED2"/>
                </a:solidFill>
              </a:defRPr>
            </a:pPr>
            <a:r>
              <a:t>TRUSTXAI  |  FINAL YEAR PROJECT • PHASE 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01400" y="6473952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AFBED2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2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6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8FC"/>
                </a:solidFill>
              </a:defRPr>
            </a:pPr>
            <a:r>
              <a:t>1.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5039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FBED2"/>
                </a:solidFill>
              </a:defRPr>
            </a:pPr>
            <a:r>
              <a:t>Why trustworthy AI matters in cyber threat detection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325880"/>
            <a:ext cx="3383280" cy="4251960"/>
          </a:xfrm>
          <a:prstGeom prst="roundRect">
            <a:avLst/>
          </a:prstGeom>
          <a:solidFill>
            <a:srgbClr val="102037"/>
          </a:solidFill>
          <a:ln>
            <a:solidFill>
              <a:srgbClr val="1E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472184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6A0FF"/>
                </a:solidFill>
              </a:defRPr>
            </a:pPr>
            <a:r>
              <a:t>CYBER THREATS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56231"/>
            <a:ext cx="3017520" cy="3593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F5F8FC"/>
                </a:solidFill>
              </a:defRPr>
            </a:pPr>
            <a:r>
              <a:t>Rapidly evolving attacks make automated monitoring and intrusion detection increasingly important.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325880"/>
            <a:ext cx="3383280" cy="4251960"/>
          </a:xfrm>
          <a:prstGeom prst="roundRect">
            <a:avLst/>
          </a:prstGeom>
          <a:solidFill>
            <a:srgbClr val="102037"/>
          </a:solidFill>
          <a:ln>
            <a:solidFill>
              <a:srgbClr val="1E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0" y="1472184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CD296"/>
                </a:solidFill>
              </a:defRPr>
            </a:pPr>
            <a:r>
              <a:t>AI-BASED IDS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1856231"/>
            <a:ext cx="3017520" cy="3593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F5F8FC"/>
                </a:solidFill>
              </a:defRPr>
            </a:pPr>
            <a:r>
              <a:t>Machine learning can identify complex attack patterns faster than purely rule-based approaches.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79" y="1325880"/>
            <a:ext cx="3383280" cy="4251960"/>
          </a:xfrm>
          <a:prstGeom prst="roundRect">
            <a:avLst/>
          </a:prstGeom>
          <a:solidFill>
            <a:srgbClr val="102037"/>
          </a:solidFill>
          <a:ln>
            <a:solidFill>
              <a:srgbClr val="1E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366759" y="1472184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B547"/>
                </a:solidFill>
              </a:defRPr>
            </a:pPr>
            <a:r>
              <a:t>BLACK-BOX PROBLEM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59" y="1856231"/>
            <a:ext cx="3017520" cy="3593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F5F8FC"/>
                </a:solidFill>
              </a:defRPr>
            </a:pPr>
            <a:r>
              <a:t>A high-performing model may still be difficult for analysts to understand or trust.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58064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4ADCFF"/>
                </a:solidFill>
              </a:defRPr>
            </a:pPr>
            <a:r>
              <a:t>Our direction: detection  +  explanation  +  robustness  +  efficiency  →  trustworthy decision support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" y="6510528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FBED2"/>
                </a:solidFill>
              </a:defRPr>
            </a:pPr>
            <a:r>
              <a:t>TRUSTXAI  |  FINAL YEAR PROJECT • PHASE 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01400" y="6473952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AFBED2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2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6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8FC"/>
                </a:solidFill>
              </a:defRPr>
            </a:pPr>
            <a:r>
              <a:t>2.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5039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FBED2"/>
                </a:solidFill>
              </a:defRPr>
            </a:pPr>
            <a:r>
              <a:t>The gap between prediction accuracy and operational trust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80160"/>
            <a:ext cx="5303520" cy="4480560"/>
          </a:xfrm>
          <a:prstGeom prst="roundRect">
            <a:avLst/>
          </a:prstGeom>
          <a:solidFill>
            <a:srgbClr val="102037"/>
          </a:solidFill>
          <a:ln>
            <a:solidFill>
              <a:srgbClr val="1E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59" y="1426463"/>
            <a:ext cx="49377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6A0FF"/>
                </a:solidFill>
              </a:defRPr>
            </a:pPr>
            <a:r>
              <a:t>TODAY'S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1810512"/>
            <a:ext cx="4937759" cy="3822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F5F8FC"/>
                </a:solidFill>
              </a:defRPr>
            </a:pPr>
            <a:r>
              <a:t>AI-based IDS research often emphasizes predictive performance, while practical deployment also requires insight into why an alert was generated and whether the explanation and model behavior are reliable.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280160"/>
            <a:ext cx="5303520" cy="4480560"/>
          </a:xfrm>
          <a:prstGeom prst="roundRect">
            <a:avLst/>
          </a:prstGeom>
          <a:solidFill>
            <a:srgbClr val="102037"/>
          </a:solidFill>
          <a:ln>
            <a:solidFill>
              <a:srgbClr val="1E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46520" y="1426463"/>
            <a:ext cx="49377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ADCFF"/>
                </a:solidFill>
              </a:defRPr>
            </a:pPr>
            <a:r>
              <a:t>RESEARCH NEED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1810512"/>
            <a:ext cx="4937759" cy="3822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F5F8FC"/>
                </a:solidFill>
              </a:defRPr>
            </a:pPr>
            <a:r>
              <a:t>A systematic evaluation is needed across multiple AI + XAI combinations, considering detection performance, explanation quality, robustness, stability, runtime and resource usage.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8978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5F8FC"/>
                </a:solidFill>
              </a:defRPr>
            </a:pPr>
            <a:r>
              <a:t>Core question: Which AI + XAI combination is most suitable and trustworthy for a given cybersecurity scenario?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6510528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FBED2"/>
                </a:solidFill>
              </a:defRPr>
            </a:pPr>
            <a:r>
              <a:t>TRUSTXAI  |  FINAL YEAR PROJECT • PHASE 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01400" y="6473952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AFBED2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2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6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8FC"/>
                </a:solidFill>
              </a:defRPr>
            </a:pPr>
            <a:r>
              <a:t>3.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5039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FBED2"/>
                </a:solidFill>
              </a:defRPr>
            </a:pPr>
            <a:r>
              <a:t>What the project will investigate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25880"/>
            <a:ext cx="1060704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F5F8FC"/>
                </a:solidFill>
              </a:defRPr>
            </a:pPr>
            <a:r>
              <a:t>• Compare multiple AI models using cybersecurity datasets.</a:t>
            </a:r>
          </a:p>
          <a:p>
            <a:pPr>
              <a:spcAft>
                <a:spcPts val="900"/>
              </a:spcAft>
              <a:defRPr sz="1600">
                <a:solidFill>
                  <a:srgbClr val="F5F8FC"/>
                </a:solidFill>
              </a:defRPr>
            </a:pPr>
            <a:r>
              <a:t>• Apply XAI methods including SHAP, LIME, Anchors and Counterfactual Explanations.</a:t>
            </a:r>
          </a:p>
          <a:p>
            <a:pPr>
              <a:spcAft>
                <a:spcPts val="900"/>
              </a:spcAft>
              <a:defRPr sz="1600">
                <a:solidFill>
                  <a:srgbClr val="F5F8FC"/>
                </a:solidFill>
              </a:defRPr>
            </a:pPr>
            <a:r>
              <a:t>• Evaluate explanation quality using fidelity, stability, consistency and runtime.</a:t>
            </a:r>
          </a:p>
          <a:p>
            <a:pPr>
              <a:spcAft>
                <a:spcPts val="900"/>
              </a:spcAft>
              <a:defRPr sz="1600">
                <a:solidFill>
                  <a:srgbClr val="F5F8FC"/>
                </a:solidFill>
              </a:defRPr>
            </a:pPr>
            <a:r>
              <a:t>• Investigate a trust-oriented evaluation based on performance, explainability, robustness, efficiency and resource usage.</a:t>
            </a:r>
          </a:p>
          <a:p>
            <a:pPr>
              <a:spcAft>
                <a:spcPts val="900"/>
              </a:spcAft>
              <a:defRPr sz="1600">
                <a:solidFill>
                  <a:srgbClr val="F5F8FC"/>
                </a:solidFill>
              </a:defRPr>
            </a:pPr>
            <a:r>
              <a:t>• Compare AI + XAI combinations rather than accuracy alone.</a:t>
            </a:r>
          </a:p>
          <a:p>
            <a:pPr>
              <a:spcAft>
                <a:spcPts val="900"/>
              </a:spcAft>
              <a:defRPr sz="1600">
                <a:solidFill>
                  <a:srgbClr val="F5F8FC"/>
                </a:solidFill>
              </a:defRPr>
            </a:pPr>
            <a:r>
              <a:t>• Recommend suitable combinations for different real-world cybersecurity scenarios.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0528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FBED2"/>
                </a:solidFill>
              </a:defRPr>
            </a:pPr>
            <a:r>
              <a:t>TRUSTXAI  |  FINAL YEAR PROJECT • PHASE 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73952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AFBED2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2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6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8FC"/>
                </a:solidFill>
              </a:defRPr>
            </a:pPr>
            <a:r>
              <a:t>4. Literature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5039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FBED2"/>
                </a:solidFill>
              </a:defRPr>
            </a:pPr>
            <a:r>
              <a:t>Existing work motivates the proposed evaluation direction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80160"/>
            <a:ext cx="3429000" cy="4480560"/>
          </a:xfrm>
          <a:prstGeom prst="roundRect">
            <a:avLst/>
          </a:prstGeom>
          <a:solidFill>
            <a:srgbClr val="102037"/>
          </a:solidFill>
          <a:ln>
            <a:solidFill>
              <a:srgbClr val="1E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426463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6A0FF"/>
                </a:solidFill>
              </a:defRPr>
            </a:pPr>
            <a:r>
              <a:t>XAI FOR IDS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10512"/>
            <a:ext cx="3063240" cy="3822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F5F8FC"/>
                </a:solidFill>
              </a:defRPr>
            </a:pPr>
            <a:r>
              <a:t>Recent research demonstrates the value of SHAP, LIME and other explanation techniques for making intrusion detection models more transparent.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280160"/>
            <a:ext cx="3429000" cy="4480560"/>
          </a:xfrm>
          <a:prstGeom prst="roundRect">
            <a:avLst/>
          </a:prstGeom>
          <a:solidFill>
            <a:srgbClr val="102037"/>
          </a:solidFill>
          <a:ln>
            <a:solidFill>
              <a:srgbClr val="1E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0" y="1426463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B547"/>
                </a:solidFill>
              </a:defRPr>
            </a:pPr>
            <a:r>
              <a:t>LIMITED SCOPE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1810512"/>
            <a:ext cx="3063240" cy="3822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F5F8FC"/>
                </a:solidFill>
              </a:defRPr>
            </a:pPr>
            <a:r>
              <a:t>Many studies evaluate a specific model, dataset, or small set of explainers, making cross-combination comparison difficult.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79" y="1280160"/>
            <a:ext cx="3429000" cy="4480560"/>
          </a:xfrm>
          <a:prstGeom prst="roundRect">
            <a:avLst/>
          </a:prstGeom>
          <a:solidFill>
            <a:srgbClr val="102037"/>
          </a:solidFill>
          <a:ln>
            <a:solidFill>
              <a:srgbClr val="1E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366759" y="1426463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ADCFF"/>
                </a:solidFill>
              </a:defRPr>
            </a:pPr>
            <a:r>
              <a:t>OUR QUESTION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59" y="1810512"/>
            <a:ext cx="3063240" cy="3822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F5F8FC"/>
                </a:solidFill>
              </a:defRPr>
            </a:pPr>
            <a:r>
              <a:t>Can a common evaluation framework compare performance, explanations, robustness and efficiency to guide practical selection?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94360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FBED2"/>
                </a:solidFill>
              </a:defRPr>
            </a:pPr>
            <a:r>
              <a:t>Key literature themes: X-IDS • SHAP/LIME • explanation evaluation • trustworthy AI • IDS benchmarking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" y="6510528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FBED2"/>
                </a:solidFill>
              </a:defRPr>
            </a:pPr>
            <a:r>
              <a:t>TRUSTXAI  |  FINAL YEAR PROJECT • PHASE 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01400" y="6473952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AFBED2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2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6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8FC"/>
                </a:solidFill>
              </a:defRPr>
            </a:pPr>
            <a:r>
              <a:t>5. Base Paper &amp; Extension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5039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FBED2"/>
                </a:solidFill>
              </a:defRPr>
            </a:pPr>
            <a:r>
              <a:t>A starting point for expanding the research scope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34440"/>
            <a:ext cx="5349240" cy="4526280"/>
          </a:xfrm>
          <a:prstGeom prst="roundRect">
            <a:avLst/>
          </a:prstGeom>
          <a:solidFill>
            <a:srgbClr val="102037"/>
          </a:solidFill>
          <a:ln>
            <a:solidFill>
              <a:srgbClr val="1E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380744"/>
            <a:ext cx="49834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6A0FF"/>
                </a:solidFill>
              </a:defRPr>
            </a:pPr>
            <a:r>
              <a:t>BASE PAPER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764792"/>
            <a:ext cx="4983479" cy="3867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F5F8FC"/>
                </a:solidFill>
              </a:defRPr>
            </a:pPr>
            <a:r>
              <a:t>“Explainable AI for Intrusion Detection Systems: LIME and SHAP Applicability on Multi-Layer Perceptron”</a:t>
            </a:r>
            <a:br/>
            <a:br/>
            <a:r>
              <a:t>Focus: MLP + SHAP + LIME for explaining IDS predictions.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34440"/>
            <a:ext cx="5349240" cy="4526280"/>
          </a:xfrm>
          <a:prstGeom prst="roundRect">
            <a:avLst/>
          </a:prstGeom>
          <a:solidFill>
            <a:srgbClr val="102037"/>
          </a:solidFill>
          <a:ln>
            <a:solidFill>
              <a:srgbClr val="1E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0" y="1380744"/>
            <a:ext cx="49834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ADCFF"/>
                </a:solidFill>
              </a:defRPr>
            </a:pPr>
            <a:r>
              <a:t>PROPOSED EXTENSION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764792"/>
            <a:ext cx="4983479" cy="3867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F5F8FC"/>
                </a:solidFill>
              </a:defRPr>
            </a:pPr>
            <a:r>
              <a:t>Multiple AI models</a:t>
            </a:r>
            <a:br/>
            <a:r>
              <a:t>+ multiple XAI methods</a:t>
            </a:r>
            <a:br/>
            <a:r>
              <a:t>+ explanation evaluation</a:t>
            </a:r>
            <a:br/>
            <a:r>
              <a:t>+ robustness / stability</a:t>
            </a:r>
            <a:br/>
            <a:r>
              <a:t>+ runtime / resource analysis</a:t>
            </a:r>
            <a:br/>
            <a:r>
              <a:t>+ scenario-based recommendation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5943600"/>
            <a:ext cx="10424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>
                <a:solidFill>
                  <a:srgbClr val="AFBED2"/>
                </a:solidFill>
              </a:defRPr>
            </a:pPr>
            <a:r>
              <a:t>The literature review will verify exactly where existing work overlaps and where a defensible contribution remains.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6510528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FBED2"/>
                </a:solidFill>
              </a:defRPr>
            </a:pPr>
            <a:r>
              <a:t>TRUSTXAI  |  FINAL YEAR PROJECT • PHASE 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01400" y="6473952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AFBED2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2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6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8FC"/>
                </a:solidFill>
              </a:defRPr>
            </a:pPr>
            <a:r>
              <a:t>6. Research / Technical 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5039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FBED2"/>
                </a:solidFill>
              </a:defRPr>
            </a:pPr>
            <a:r>
              <a:t>From “best accuracy” to multi-dimensional 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3444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F5F8FC"/>
                </a:solidFill>
              </a:defRPr>
            </a:pPr>
            <a:r>
              <a:t>• Detection metrics alone do not capture operational trust.</a:t>
            </a:r>
          </a:p>
          <a:p>
            <a:pPr>
              <a:spcAft>
                <a:spcPts val="900"/>
              </a:spcAft>
              <a:defRPr sz="1500">
                <a:solidFill>
                  <a:srgbClr val="F5F8FC"/>
                </a:solidFill>
              </a:defRPr>
            </a:pPr>
            <a:r>
              <a:t>• Explanation quality is not consistently evaluated across methods.</a:t>
            </a:r>
          </a:p>
          <a:p>
            <a:pPr>
              <a:spcAft>
                <a:spcPts val="900"/>
              </a:spcAft>
              <a:defRPr sz="1500">
                <a:solidFill>
                  <a:srgbClr val="F5F8FC"/>
                </a:solidFill>
              </a:defRPr>
            </a:pPr>
            <a:r>
              <a:t>• AI + XAI combinations are not always benchmarked under one common setup.</a:t>
            </a:r>
          </a:p>
          <a:p>
            <a:pPr>
              <a:spcAft>
                <a:spcPts val="900"/>
              </a:spcAft>
              <a:defRPr sz="1500">
                <a:solidFill>
                  <a:srgbClr val="F5F8FC"/>
                </a:solidFill>
              </a:defRPr>
            </a:pPr>
            <a:r>
              <a:t>• Robustness and stability of explanations require explicit attention.</a:t>
            </a:r>
          </a:p>
          <a:p>
            <a:pPr>
              <a:spcAft>
                <a:spcPts val="900"/>
              </a:spcAft>
              <a:defRPr sz="1500">
                <a:solidFill>
                  <a:srgbClr val="F5F8FC"/>
                </a:solidFill>
              </a:defRPr>
            </a:pPr>
            <a:r>
              <a:t>• Runtime and resource cost matter for real-world deployment.</a:t>
            </a:r>
          </a:p>
          <a:p>
            <a:pPr>
              <a:spcAft>
                <a:spcPts val="900"/>
              </a:spcAft>
              <a:defRPr sz="1500">
                <a:solidFill>
                  <a:srgbClr val="F5F8FC"/>
                </a:solidFill>
              </a:defRPr>
            </a:pPr>
            <a:r>
              <a:t>• Different cybersecurity environments have different priorities.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8064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ADCFF"/>
                </a:solidFill>
              </a:defRPr>
            </a:pPr>
            <a:r>
              <a:t>PROPOSED GAP TO INVESTIGATE  →  A unified, evidence-based comparison of AI + XAI combinations for trustworthy cyber threat detection.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510528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FBED2"/>
                </a:solidFill>
              </a:defRPr>
            </a:pPr>
            <a:r>
              <a:t>TRUSTXAI  |  FINAL YEAR PROJECT • PHASE 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AFBED2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2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6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8FC"/>
                </a:solidFill>
              </a:defRPr>
            </a:pPr>
            <a:r>
              <a:t>7. Proposed Methodology /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5039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FBED2"/>
                </a:solidFill>
              </a:defRPr>
            </a:pPr>
            <a:r>
              <a:t>End-to-end research 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" y="2331720"/>
            <a:ext cx="1261872" cy="1234440"/>
          </a:xfrm>
          <a:prstGeom prst="roundRect">
            <a:avLst/>
          </a:prstGeom>
          <a:solidFill>
            <a:srgbClr val="102037"/>
          </a:solidFill>
          <a:ln>
            <a:solidFill>
              <a:srgbClr val="4A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93192" y="2560320"/>
            <a:ext cx="1115568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5F8FC"/>
                </a:solidFill>
              </a:defRPr>
            </a:pPr>
            <a:r>
              <a:t>Cybersecurity</a:t>
            </a:r>
            <a:br/>
            <a:r>
              <a:t>Dataset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581912" y="2948939"/>
            <a:ext cx="155448" cy="0"/>
          </a:xfrm>
          <a:prstGeom prst="line">
            <a:avLst/>
          </a:prstGeom>
          <a:ln w="25400">
            <a:solidFill>
              <a:srgbClr val="AFBE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1737360" y="2331720"/>
            <a:ext cx="1261872" cy="1234440"/>
          </a:xfrm>
          <a:prstGeom prst="roundRect">
            <a:avLst/>
          </a:prstGeom>
          <a:solidFill>
            <a:srgbClr val="102037"/>
          </a:solidFill>
          <a:ln>
            <a:solidFill>
              <a:srgbClr val="26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810512" y="2560320"/>
            <a:ext cx="1115568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5F8FC"/>
                </a:solidFill>
              </a:defRPr>
            </a:pPr>
            <a:r>
              <a:t>Preprocessing</a:t>
            </a:r>
            <a:br/>
            <a:r>
              <a:t>&amp; Features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999232" y="2948939"/>
            <a:ext cx="155447" cy="0"/>
          </a:xfrm>
          <a:prstGeom prst="line">
            <a:avLst/>
          </a:prstGeom>
          <a:ln w="25400">
            <a:solidFill>
              <a:srgbClr val="AFBE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154679" y="2331720"/>
            <a:ext cx="1261872" cy="1234440"/>
          </a:xfrm>
          <a:prstGeom prst="roundRect">
            <a:avLst/>
          </a:prstGeom>
          <a:solidFill>
            <a:srgbClr val="102037"/>
          </a:solidFill>
          <a:ln>
            <a:solidFill>
              <a:srgbClr val="26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227832" y="2560320"/>
            <a:ext cx="1115568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5F8FC"/>
                </a:solidFill>
              </a:defRPr>
            </a:pPr>
            <a:r>
              <a:t>Multiple AI</a:t>
            </a:r>
            <a:br/>
            <a:r>
              <a:t>Models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416552" y="2948939"/>
            <a:ext cx="155448" cy="0"/>
          </a:xfrm>
          <a:prstGeom prst="line">
            <a:avLst/>
          </a:prstGeom>
          <a:ln w="25400">
            <a:solidFill>
              <a:srgbClr val="AFBE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571999" y="2331720"/>
            <a:ext cx="1261872" cy="1234440"/>
          </a:xfrm>
          <a:prstGeom prst="roundRect">
            <a:avLst/>
          </a:prstGeom>
          <a:solidFill>
            <a:srgbClr val="102037"/>
          </a:solidFill>
          <a:ln>
            <a:solidFill>
              <a:srgbClr val="26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645151" y="2560320"/>
            <a:ext cx="1115568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5F8FC"/>
                </a:solidFill>
              </a:defRPr>
            </a:pPr>
            <a:r>
              <a:t>Attack /</a:t>
            </a:r>
            <a:br/>
            <a:r>
              <a:t>Normal Prediction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833871" y="2948939"/>
            <a:ext cx="155448" cy="0"/>
          </a:xfrm>
          <a:prstGeom prst="line">
            <a:avLst/>
          </a:prstGeom>
          <a:ln w="25400">
            <a:solidFill>
              <a:srgbClr val="AFBE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989319" y="2331720"/>
            <a:ext cx="1261872" cy="1234440"/>
          </a:xfrm>
          <a:prstGeom prst="roundRect">
            <a:avLst/>
          </a:prstGeom>
          <a:solidFill>
            <a:srgbClr val="102037"/>
          </a:solidFill>
          <a:ln>
            <a:solidFill>
              <a:srgbClr val="4A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062471" y="2560320"/>
            <a:ext cx="1115568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5F8FC"/>
                </a:solidFill>
              </a:defRPr>
            </a:pPr>
            <a:r>
              <a:t>XAI Layer</a:t>
            </a:r>
            <a:br/>
            <a:r>
              <a:t>Local + Global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251191" y="2948939"/>
            <a:ext cx="155449" cy="0"/>
          </a:xfrm>
          <a:prstGeom prst="line">
            <a:avLst/>
          </a:prstGeom>
          <a:ln w="25400">
            <a:solidFill>
              <a:srgbClr val="AFBE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406640" y="2331720"/>
            <a:ext cx="1261872" cy="1234440"/>
          </a:xfrm>
          <a:prstGeom prst="roundRect">
            <a:avLst/>
          </a:prstGeom>
          <a:solidFill>
            <a:srgbClr val="102037"/>
          </a:solidFill>
          <a:ln>
            <a:solidFill>
              <a:srgbClr val="26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479792" y="2560320"/>
            <a:ext cx="1115568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5F8FC"/>
                </a:solidFill>
              </a:defRPr>
            </a:pPr>
            <a:r>
              <a:t>Explanation</a:t>
            </a:r>
            <a:br/>
            <a:r>
              <a:t>Evaluation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668512" y="2948939"/>
            <a:ext cx="155448" cy="0"/>
          </a:xfrm>
          <a:prstGeom prst="line">
            <a:avLst/>
          </a:prstGeom>
          <a:ln w="25400">
            <a:solidFill>
              <a:srgbClr val="AFBE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8823959" y="2331720"/>
            <a:ext cx="1261872" cy="1234440"/>
          </a:xfrm>
          <a:prstGeom prst="roundRect">
            <a:avLst/>
          </a:prstGeom>
          <a:solidFill>
            <a:srgbClr val="102037"/>
          </a:solidFill>
          <a:ln>
            <a:solidFill>
              <a:srgbClr val="4A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897111" y="2560320"/>
            <a:ext cx="1115568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5F8FC"/>
                </a:solidFill>
              </a:defRPr>
            </a:pPr>
            <a:r>
              <a:t>Trust-Oriented</a:t>
            </a:r>
            <a:br/>
            <a:r>
              <a:t>Evaluation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0085831" y="2948939"/>
            <a:ext cx="155448" cy="0"/>
          </a:xfrm>
          <a:prstGeom prst="line">
            <a:avLst/>
          </a:prstGeom>
          <a:ln w="25400">
            <a:solidFill>
              <a:srgbClr val="AFBE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10241279" y="2331720"/>
            <a:ext cx="1261872" cy="1234440"/>
          </a:xfrm>
          <a:prstGeom prst="roundRect">
            <a:avLst/>
          </a:prstGeom>
          <a:solidFill>
            <a:srgbClr val="102037"/>
          </a:solidFill>
          <a:ln>
            <a:solidFill>
              <a:srgbClr val="4A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314431" y="2560320"/>
            <a:ext cx="1115568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5F8FC"/>
                </a:solidFill>
              </a:defRPr>
            </a:pPr>
            <a:r>
              <a:t>Comparison &amp;</a:t>
            </a:r>
            <a:br/>
            <a:r>
              <a:t>Recommendation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920240" y="4069080"/>
            <a:ext cx="8321040" cy="1143000"/>
          </a:xfrm>
          <a:prstGeom prst="roundRect">
            <a:avLst/>
          </a:prstGeom>
          <a:solidFill>
            <a:srgbClr val="102037"/>
          </a:solidFill>
          <a:ln>
            <a:solidFill>
              <a:srgbClr val="1E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103120" y="4215384"/>
            <a:ext cx="7955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ADCFF"/>
                </a:solidFill>
              </a:defRPr>
            </a:pPr>
            <a:r>
              <a:t>EVALUATION DIMENSIONS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03120" y="4599432"/>
            <a:ext cx="7955279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F5F8FC"/>
                </a:solidFill>
              </a:defRPr>
            </a:pPr>
            <a:r>
              <a:t>Performance  •  Explainability  •  Robustness  •  Stability  •  Runtime  •  Resource Usage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0352" y="6510528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FBED2"/>
                </a:solidFill>
              </a:defRPr>
            </a:pPr>
            <a:r>
              <a:t>TRUSTXAI  |  FINAL YEAR PROJECT • PHASE 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01400" y="6473952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AFBED2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2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6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8FC"/>
                </a:solidFill>
              </a:defRPr>
            </a:pPr>
            <a:r>
              <a:t>8. AI + XAI Combination Space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5039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FBED2"/>
                </a:solidFill>
              </a:defRPr>
            </a:pPr>
            <a:r>
              <a:t>Candidate models and explainers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34440"/>
            <a:ext cx="5120640" cy="4526280"/>
          </a:xfrm>
          <a:prstGeom prst="roundRect">
            <a:avLst/>
          </a:prstGeom>
          <a:solidFill>
            <a:srgbClr val="102037"/>
          </a:solidFill>
          <a:ln>
            <a:solidFill>
              <a:srgbClr val="1E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380744"/>
            <a:ext cx="47548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6A0FF"/>
                </a:solidFill>
              </a:defRPr>
            </a:pPr>
            <a:r>
              <a:t>AI / IDS MODELS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764792"/>
            <a:ext cx="4754879" cy="3867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F5F8FC"/>
                </a:solidFill>
              </a:defRPr>
            </a:pPr>
            <a:r>
              <a:t>Random Forest (RF)</a:t>
            </a:r>
            <a:br/>
            <a:r>
              <a:t>XGBoost — Extreme Gradient Boosting</a:t>
            </a:r>
            <a:br/>
            <a:r>
              <a:t>LightGBM — Light Gradient Boosting Machine</a:t>
            </a:r>
            <a:br/>
            <a:r>
              <a:t>CatBoost — Categorical Boosting</a:t>
            </a:r>
            <a:br/>
            <a:r>
              <a:t>MLP — Multi-Layer Perceptron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1234440"/>
            <a:ext cx="5532120" cy="4526280"/>
          </a:xfrm>
          <a:prstGeom prst="roundRect">
            <a:avLst/>
          </a:prstGeom>
          <a:solidFill>
            <a:srgbClr val="102037"/>
          </a:solidFill>
          <a:ln>
            <a:solidFill>
              <a:srgbClr val="1E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217920" y="1380744"/>
            <a:ext cx="51663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ADCFF"/>
                </a:solidFill>
              </a:defRPr>
            </a:pPr>
            <a:r>
              <a:t>EXPLAINABLE 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764792"/>
            <a:ext cx="5166359" cy="3867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F5F8FC"/>
                </a:solidFill>
              </a:defRPr>
            </a:pPr>
            <a:r>
              <a:t>SHAP — SHapley Additive exPlanations</a:t>
            </a:r>
            <a:br/>
            <a:r>
              <a:t>LIME — Local Interpretable Model-Agnostic Explanations</a:t>
            </a:r>
            <a:br/>
            <a:r>
              <a:t>Anchors</a:t>
            </a:r>
            <a:br/>
            <a:r>
              <a:t>Counterfactual Explanations</a:t>
            </a:r>
            <a:br/>
            <a:br/>
            <a:r>
              <a:t>Final combination set will be selected after literature + feasibility analysis.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897880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>
                <a:solidFill>
                  <a:srgbClr val="AFBED2"/>
                </a:solidFill>
              </a:defRPr>
            </a:pPr>
            <a:r>
              <a:t>We will not assume every combination is equally suitable; experiments will determine the evidence.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6510528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FBED2"/>
                </a:solidFill>
              </a:defRPr>
            </a:pPr>
            <a:r>
              <a:t>TRUSTXAI  |  FINAL YEAR PROJECT • PHASE 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01400" y="6473952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AFBED2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2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6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8FC"/>
                </a:solidFill>
              </a:defRPr>
            </a:pPr>
            <a:r>
              <a:t>9. Evaluation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5039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FBED2"/>
                </a:solidFill>
              </a:defRPr>
            </a:pPr>
            <a:r>
              <a:t>Four dimensions instead of accuracy alone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234440"/>
            <a:ext cx="2743200" cy="4480560"/>
          </a:xfrm>
          <a:prstGeom prst="roundRect">
            <a:avLst/>
          </a:prstGeom>
          <a:solidFill>
            <a:srgbClr val="102037"/>
          </a:solidFill>
          <a:ln>
            <a:solidFill>
              <a:srgbClr val="1E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380744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6A0FF"/>
                </a:solidFill>
              </a:defRPr>
            </a:pPr>
            <a:r>
              <a:t>DETECTION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64792"/>
            <a:ext cx="2377440" cy="3822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F5F8FC"/>
                </a:solidFill>
              </a:defRPr>
            </a:pPr>
            <a:r>
              <a:t>Accuracy</a:t>
            </a:r>
            <a:br/>
            <a:r>
              <a:t>Precision</a:t>
            </a:r>
            <a:br/>
            <a:r>
              <a:t>Recall</a:t>
            </a:r>
            <a:br/>
            <a:r>
              <a:t>F1-score</a:t>
            </a:r>
            <a:br/>
            <a:r>
              <a:t>ROC-AUC / PR-AUC</a:t>
            </a:r>
            <a:br/>
            <a:r>
              <a:t>Confusion Matrix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234440"/>
            <a:ext cx="2743200" cy="4480560"/>
          </a:xfrm>
          <a:prstGeom prst="roundRect">
            <a:avLst/>
          </a:prstGeom>
          <a:solidFill>
            <a:srgbClr val="102037"/>
          </a:solidFill>
          <a:ln>
            <a:solidFill>
              <a:srgbClr val="1E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0" y="1380744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CD296"/>
                </a:solidFill>
              </a:defRPr>
            </a:pPr>
            <a:r>
              <a:t>EXPLAINABILITY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1764792"/>
            <a:ext cx="2377440" cy="3822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F5F8FC"/>
                </a:solidFill>
              </a:defRPr>
            </a:pPr>
            <a:r>
              <a:t>Fidelity</a:t>
            </a:r>
            <a:br/>
            <a:r>
              <a:t>Stability</a:t>
            </a:r>
            <a:br/>
            <a:r>
              <a:t>Consistency</a:t>
            </a:r>
            <a:br/>
            <a:r>
              <a:t>Interpretability</a:t>
            </a:r>
            <a:br/>
            <a:r>
              <a:t>Explanation Runtime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1234440"/>
            <a:ext cx="2468880" cy="4480560"/>
          </a:xfrm>
          <a:prstGeom prst="roundRect">
            <a:avLst/>
          </a:prstGeom>
          <a:solidFill>
            <a:srgbClr val="102037"/>
          </a:solidFill>
          <a:ln>
            <a:solidFill>
              <a:srgbClr val="1E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29400" y="1380744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B547"/>
                </a:solidFill>
              </a:defRPr>
            </a:pPr>
            <a:r>
              <a:t>EFFICIENCY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1764792"/>
            <a:ext cx="2103120" cy="3822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F5F8FC"/>
                </a:solidFill>
              </a:defRPr>
            </a:pPr>
            <a:r>
              <a:t>Training Time</a:t>
            </a:r>
            <a:br/>
            <a:r>
              <a:t>Inference Time</a:t>
            </a:r>
            <a:br/>
            <a:r>
              <a:t>Memory Usage</a:t>
            </a:r>
            <a:br/>
            <a:r>
              <a:t>CPU / GPU Usage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1234440"/>
            <a:ext cx="2468880" cy="4480560"/>
          </a:xfrm>
          <a:prstGeom prst="roundRect">
            <a:avLst/>
          </a:prstGeom>
          <a:solidFill>
            <a:srgbClr val="102037"/>
          </a:solidFill>
          <a:ln>
            <a:solidFill>
              <a:srgbClr val="1E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326880" y="1380744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ADCFF"/>
                </a:solidFill>
              </a:defRPr>
            </a:pPr>
            <a:r>
              <a:t>TRUST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1764792"/>
            <a:ext cx="2103120" cy="3822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F5F8FC"/>
                </a:solidFill>
              </a:defRPr>
            </a:pPr>
            <a:r>
              <a:t>Prediction Reliability</a:t>
            </a:r>
            <a:br/>
            <a:r>
              <a:t>Explanation Reliability</a:t>
            </a:r>
            <a:br/>
            <a:r>
              <a:t>Robustness</a:t>
            </a:r>
            <a:br/>
            <a:r>
              <a:t>Overall evidence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58978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>
                <a:solidFill>
                  <a:srgbClr val="AFBED2"/>
                </a:solidFill>
              </a:defRPr>
            </a:pPr>
            <a:r>
              <a:t>A composite Trust Score will be defined only after reviewing established evaluation approaches and validating it experimentally.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" y="6510528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FBED2"/>
                </a:solidFill>
              </a:defRPr>
            </a:pPr>
            <a:r>
              <a:t>TRUSTXAI  |  FINAL YEAR PROJECT • PHASE 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01400" y="6473952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AFBED2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2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6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8FC"/>
                </a:solidFill>
              </a:defRPr>
            </a:pPr>
            <a:r>
              <a:t>10. Scenario-Based Recommendation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5039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FBED2"/>
                </a:solidFill>
              </a:defRPr>
            </a:pPr>
            <a:r>
              <a:t>Different environments optimize for different risks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280160"/>
            <a:ext cx="2606040" cy="4297680"/>
          </a:xfrm>
          <a:prstGeom prst="roundRect">
            <a:avLst/>
          </a:prstGeom>
          <a:solidFill>
            <a:srgbClr val="102037"/>
          </a:solidFill>
          <a:ln>
            <a:solidFill>
              <a:srgbClr val="1E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426463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6A0FF"/>
                </a:solidFill>
              </a:defRPr>
            </a:pPr>
            <a:r>
              <a:t>SOC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810512"/>
            <a:ext cx="2240280" cy="3639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F5F8FC"/>
                </a:solidFill>
              </a:defRPr>
            </a:pPr>
            <a:r>
              <a:t>Priorities:</a:t>
            </a:r>
            <a:br/>
            <a:r>
              <a:t>Low false alarms</a:t>
            </a:r>
            <a:br/>
            <a:r>
              <a:t>Fast explanations</a:t>
            </a:r>
            <a:br/>
            <a:r>
              <a:t>Analyst usability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7560" y="1280160"/>
            <a:ext cx="2606040" cy="4297680"/>
          </a:xfrm>
          <a:prstGeom prst="roundRect">
            <a:avLst/>
          </a:prstGeom>
          <a:solidFill>
            <a:srgbClr val="102037"/>
          </a:solidFill>
          <a:ln>
            <a:solidFill>
              <a:srgbClr val="1E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520440" y="1426463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CD296"/>
                </a:solidFill>
              </a:defRPr>
            </a:pPr>
            <a:r>
              <a:t>IoT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40" y="1810512"/>
            <a:ext cx="2240280" cy="3639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F5F8FC"/>
                </a:solidFill>
              </a:defRPr>
            </a:pPr>
            <a:r>
              <a:t>Priorities:</a:t>
            </a:r>
            <a:br/>
            <a:r>
              <a:t>Low resource use</a:t>
            </a:r>
            <a:br/>
            <a:r>
              <a:t>Fast inference</a:t>
            </a:r>
            <a:br/>
            <a:r>
              <a:t>Lightweight explanations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280160"/>
            <a:ext cx="2606040" cy="4297680"/>
          </a:xfrm>
          <a:prstGeom prst="roundRect">
            <a:avLst/>
          </a:prstGeom>
          <a:solidFill>
            <a:srgbClr val="102037"/>
          </a:solidFill>
          <a:ln>
            <a:solidFill>
              <a:srgbClr val="1E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55080" y="1426463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B547"/>
                </a:solidFill>
              </a:defRPr>
            </a:pPr>
            <a:r>
              <a:t>CRITICAL INFRA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1810512"/>
            <a:ext cx="2240280" cy="3639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F5F8FC"/>
                </a:solidFill>
              </a:defRPr>
            </a:pPr>
            <a:r>
              <a:t>Priorities:</a:t>
            </a:r>
            <a:br/>
            <a:r>
              <a:t>High recall</a:t>
            </a:r>
            <a:br/>
            <a:r>
              <a:t>Robustness</a:t>
            </a:r>
            <a:br/>
            <a:r>
              <a:t>Reliable alerts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06840" y="1280160"/>
            <a:ext cx="2606040" cy="4297680"/>
          </a:xfrm>
          <a:prstGeom prst="roundRect">
            <a:avLst/>
          </a:prstGeom>
          <a:solidFill>
            <a:srgbClr val="102037"/>
          </a:solidFill>
          <a:ln>
            <a:solidFill>
              <a:srgbClr val="1E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89719" y="1426463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ADCFF"/>
                </a:solidFill>
              </a:defRPr>
            </a:pPr>
            <a:r>
              <a:t>CLOUD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89719" y="1810512"/>
            <a:ext cx="2240280" cy="3639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F5F8FC"/>
                </a:solidFill>
              </a:defRPr>
            </a:pPr>
            <a:r>
              <a:t>Priorities:</a:t>
            </a:r>
            <a:br/>
            <a:r>
              <a:t>Scalability</a:t>
            </a:r>
            <a:br/>
            <a:r>
              <a:t>Performance</a:t>
            </a:r>
            <a:br/>
            <a:r>
              <a:t>Explanation efficiency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85216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5F8FC"/>
                </a:solidFill>
              </a:defRPr>
            </a:pPr>
            <a:r>
              <a:t>AI + XAI results  →  scenario requirements  →  evidence-based recommendation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" y="6510528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FBED2"/>
                </a:solidFill>
              </a:defRPr>
            </a:pPr>
            <a:r>
              <a:t>TRUSTXAI  |  FINAL YEAR PROJECT • PHASE 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01400" y="6473952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AFBED2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2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6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8FC"/>
                </a:solidFill>
              </a:defRPr>
            </a:pPr>
            <a:r>
              <a:t>11. Dataset &amp; Preprocessing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5039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FBED2"/>
                </a:solidFill>
              </a:defRPr>
            </a:pPr>
            <a:r>
              <a:t>Candidate datasets; final selection follows feasibility and literature analysis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234440"/>
            <a:ext cx="2148840" cy="4434840"/>
          </a:xfrm>
          <a:prstGeom prst="roundRect">
            <a:avLst/>
          </a:prstGeom>
          <a:solidFill>
            <a:srgbClr val="102037"/>
          </a:solidFill>
          <a:ln>
            <a:solidFill>
              <a:srgbClr val="1E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380744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6A0FF"/>
                </a:solidFill>
              </a:defRPr>
            </a:pPr>
            <a:r>
              <a:t>CICIDS2017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64792"/>
            <a:ext cx="1783080" cy="3776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F5F8FC"/>
                </a:solidFill>
              </a:defRPr>
            </a:pPr>
            <a:r>
              <a:t>Canadian Institute for Cybersecurity</a:t>
            </a:r>
            <a:br/>
            <a:r>
              <a:t>Broad attack categories</a:t>
            </a:r>
            <a:br/>
            <a:r>
              <a:t>Widely used for IDS research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88920" y="1234440"/>
            <a:ext cx="2148840" cy="4434840"/>
          </a:xfrm>
          <a:prstGeom prst="roundRect">
            <a:avLst/>
          </a:prstGeom>
          <a:solidFill>
            <a:srgbClr val="102037"/>
          </a:solidFill>
          <a:ln>
            <a:solidFill>
              <a:srgbClr val="1E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971800" y="1380744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CD296"/>
                </a:solidFill>
              </a:defRPr>
            </a:pPr>
            <a:r>
              <a:t>UNSW-NB15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71800" y="1764792"/>
            <a:ext cx="1783080" cy="3776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F5F8FC"/>
                </a:solidFill>
              </a:defRPr>
            </a:pPr>
            <a:r>
              <a:t>Modern network traffic benchmark</a:t>
            </a:r>
            <a:br/>
            <a:r>
              <a:t>Multiple attack categories</a:t>
            </a:r>
            <a:br/>
            <a:r>
              <a:t>Common IDS baseline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74920" y="1234440"/>
            <a:ext cx="2148840" cy="4434840"/>
          </a:xfrm>
          <a:prstGeom prst="roundRect">
            <a:avLst/>
          </a:prstGeom>
          <a:solidFill>
            <a:srgbClr val="102037"/>
          </a:solidFill>
          <a:ln>
            <a:solidFill>
              <a:srgbClr val="1E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257800" y="1380744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B547"/>
                </a:solidFill>
              </a:defRPr>
            </a:pPr>
            <a:r>
              <a:t>TON_IoT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57800" y="1764792"/>
            <a:ext cx="1783080" cy="3776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F5F8FC"/>
                </a:solidFill>
              </a:defRPr>
            </a:pPr>
            <a:r>
              <a:t>IoT / telemetry-oriented</a:t>
            </a:r>
            <a:br/>
            <a:r>
              <a:t>Useful for IoT security scenarios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60920" y="1234440"/>
            <a:ext cx="2148840" cy="4434840"/>
          </a:xfrm>
          <a:prstGeom prst="roundRect">
            <a:avLst/>
          </a:prstGeom>
          <a:solidFill>
            <a:srgbClr val="102037"/>
          </a:solidFill>
          <a:ln>
            <a:solidFill>
              <a:srgbClr val="1E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543800" y="1380744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ADCFF"/>
                </a:solidFill>
              </a:defRPr>
            </a:pPr>
            <a:r>
              <a:t>EDGE-IIOTSET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43800" y="1764792"/>
            <a:ext cx="1783080" cy="3776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F5F8FC"/>
                </a:solidFill>
              </a:defRPr>
            </a:pPr>
            <a:r>
              <a:t>IIoT-focused dataset</a:t>
            </a:r>
            <a:br/>
            <a:r>
              <a:t>Useful for industrial scenarios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46920" y="1234440"/>
            <a:ext cx="2057400" cy="4434840"/>
          </a:xfrm>
          <a:prstGeom prst="roundRect">
            <a:avLst/>
          </a:prstGeom>
          <a:solidFill>
            <a:srgbClr val="102037"/>
          </a:solidFill>
          <a:ln>
            <a:solidFill>
              <a:srgbClr val="1E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829800" y="1380744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6A0FF"/>
                </a:solidFill>
              </a:defRPr>
            </a:pPr>
            <a:r>
              <a:t>PIPELINE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29800" y="1764792"/>
            <a:ext cx="1691640" cy="3776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F5F8FC"/>
                </a:solidFill>
              </a:defRPr>
            </a:pPr>
            <a:r>
              <a:t>Remove duplicates</a:t>
            </a:r>
            <a:br/>
            <a:r>
              <a:t>Missing values</a:t>
            </a:r>
            <a:br/>
            <a:r>
              <a:t>Encoding</a:t>
            </a:r>
            <a:br/>
            <a:r>
              <a:t>Scaling</a:t>
            </a:r>
            <a:br/>
            <a:r>
              <a:t>Train / test split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8978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>
                <a:solidFill>
                  <a:srgbClr val="AFBED2"/>
                </a:solidFill>
              </a:defRPr>
            </a:pPr>
            <a:r>
              <a:t>Final dataset choice will consider relevance, quality, class imbalance, feature availability and computational cost.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" y="6510528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FBED2"/>
                </a:solidFill>
              </a:defRPr>
            </a:pPr>
            <a:r>
              <a:t>TRUSTXAI  |  FINAL YEAR PROJECT • PHASE 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01400" y="6473952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AFBED2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2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6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8FC"/>
                </a:solidFill>
              </a:defRPr>
            </a:pPr>
            <a:r>
              <a:t>12. Hardware / Software Requirements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234440"/>
            <a:ext cx="5303520" cy="4526280"/>
          </a:xfrm>
          <a:prstGeom prst="roundRect">
            <a:avLst/>
          </a:prstGeom>
          <a:solidFill>
            <a:srgbClr val="102037"/>
          </a:solidFill>
          <a:ln>
            <a:solidFill>
              <a:srgbClr val="1E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380744"/>
            <a:ext cx="49377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6A0FF"/>
                </a:solidFill>
              </a:defRPr>
            </a:pPr>
            <a:r>
              <a:t>HARDWARE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764792"/>
            <a:ext cx="4937759" cy="3867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F5F8FC"/>
                </a:solidFill>
              </a:defRPr>
            </a:pPr>
            <a:r>
              <a:t>CPU: Intel Core i5 10th Gen+ / AMD Ryzen 5+</a:t>
            </a:r>
            <a:br/>
            <a:r>
              <a:t>RAM: 8 GB minimum; 16 GB recommended</a:t>
            </a:r>
            <a:br/>
            <a:r>
              <a:t>Storage: 256 GB SSD+</a:t>
            </a:r>
            <a:br/>
            <a:r>
              <a:t>OS: Windows 10/11 or Ubuntu Linux</a:t>
            </a:r>
            <a:br/>
            <a:r>
              <a:t>Internet: Required for datasets and packages</a:t>
            </a:r>
            <a:br/>
            <a:br/>
            <a:r>
              <a:t>GPU: Optional, mainly useful for neural-network experiments.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234440"/>
            <a:ext cx="5394960" cy="4526280"/>
          </a:xfrm>
          <a:prstGeom prst="roundRect">
            <a:avLst/>
          </a:prstGeom>
          <a:solidFill>
            <a:srgbClr val="102037"/>
          </a:solidFill>
          <a:ln>
            <a:solidFill>
              <a:srgbClr val="1E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355080" y="1380744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ADCFF"/>
                </a:solidFill>
              </a:defRPr>
            </a:pPr>
            <a:r>
              <a:t>SOFTWARE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1764792"/>
            <a:ext cx="5029200" cy="3867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F5F8FC"/>
                </a:solidFill>
              </a:defRPr>
            </a:pPr>
            <a:r>
              <a:t>Python 3.10+</a:t>
            </a:r>
            <a:br/>
            <a:r>
              <a:t>VS Code / Jupyter / PyCharm</a:t>
            </a:r>
            <a:br/>
            <a:r>
              <a:t>Scikit-learn • XGBoost • LightGBM • CatBoost</a:t>
            </a:r>
            <a:br/>
            <a:r>
              <a:t>SHAP • LIME • Alibi</a:t>
            </a:r>
            <a:br/>
            <a:r>
              <a:t>Pandas • NumPy • Matplotlib • Seaborn • Plotly</a:t>
            </a:r>
            <a:br/>
            <a:r>
              <a:t>Optional: Streamlit / Flask</a:t>
            </a:r>
            <a:br/>
            <a:r>
              <a:t>Git &amp; GitHub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6510528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FBED2"/>
                </a:solidFill>
              </a:defRPr>
            </a:pPr>
            <a:r>
              <a:t>TRUSTXAI  |  FINAL YEAR PROJECT • PHASE 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473952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AFBED2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2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6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8FC"/>
                </a:solidFill>
              </a:defRPr>
            </a:pPr>
            <a:r>
              <a:t>13. Timeline / Gantt Chart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50392"/>
            <a:ext cx="3416320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FBED2"/>
                </a:solidFill>
              </a:defRPr>
            </a:pPr>
            <a:r>
              <a:rPr dirty="0"/>
              <a:t>Proposed Phase-I to publication workflow</a:t>
            </a:r>
            <a:r>
              <a:rPr lang="en-US" dirty="0"/>
              <a:t>		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F8FC"/>
                </a:solidFill>
              </a:defRPr>
            </a:pPr>
            <a:r>
              <a:t>Literature + problem definition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0" y="1234440"/>
            <a:ext cx="6400800" cy="310896"/>
          </a:xfrm>
          <a:prstGeom prst="roundRect">
            <a:avLst/>
          </a:prstGeom>
          <a:solidFill>
            <a:srgbClr val="102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572000" y="1234440"/>
            <a:ext cx="1645920" cy="310896"/>
          </a:xfrm>
          <a:prstGeom prst="roundRect">
            <a:avLst/>
          </a:prstGeom>
          <a:solidFill>
            <a:srgbClr val="26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018520" y="12344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AFBED2"/>
                </a:solidFill>
              </a:defRPr>
            </a:pPr>
            <a:r>
              <a:t>Aug–Sep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92808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F8FC"/>
                </a:solidFill>
              </a:defRPr>
            </a:pPr>
            <a:r>
              <a:t>Dataset selection + preprocessing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1892808"/>
            <a:ext cx="6400800" cy="310896"/>
          </a:xfrm>
          <a:prstGeom prst="roundRect">
            <a:avLst/>
          </a:prstGeom>
          <a:solidFill>
            <a:srgbClr val="102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5102352" y="1901952"/>
            <a:ext cx="1645920" cy="310896"/>
          </a:xfrm>
          <a:prstGeom prst="roundRect">
            <a:avLst/>
          </a:prstGeom>
          <a:solidFill>
            <a:srgbClr val="4CD2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018520" y="189280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AFBED2"/>
                </a:solidFill>
              </a:defRPr>
            </a:pPr>
            <a:r>
              <a:t>Sep–Oct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551176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F8FC"/>
                </a:solidFill>
              </a:defRPr>
            </a:pPr>
            <a:r>
              <a:t>AI model development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0" y="2551176"/>
            <a:ext cx="6400800" cy="310896"/>
          </a:xfrm>
          <a:prstGeom prst="roundRect">
            <a:avLst/>
          </a:prstGeom>
          <a:solidFill>
            <a:srgbClr val="102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394960" y="2542032"/>
            <a:ext cx="2194560" cy="310896"/>
          </a:xfrm>
          <a:prstGeom prst="roundRect">
            <a:avLst/>
          </a:prstGeom>
          <a:solidFill>
            <a:srgbClr val="FFB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018520" y="2551176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AFBED2"/>
                </a:solidFill>
              </a:defRPr>
            </a:pPr>
            <a:r>
              <a:t>Oct–Nov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209544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F8FC"/>
                </a:solidFill>
              </a:defRPr>
            </a:pPr>
            <a:r>
              <a:t>XAI implementation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0" y="3209544"/>
            <a:ext cx="6400800" cy="310896"/>
          </a:xfrm>
          <a:prstGeom prst="roundRect">
            <a:avLst/>
          </a:prstGeom>
          <a:solidFill>
            <a:srgbClr val="102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019800" y="3201077"/>
            <a:ext cx="2194560" cy="310896"/>
          </a:xfrm>
          <a:prstGeom prst="roundRect">
            <a:avLst/>
          </a:prstGeom>
          <a:solidFill>
            <a:srgbClr val="4A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1018520" y="3209544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AFBED2"/>
                </a:solidFill>
              </a:defRPr>
            </a:pPr>
            <a:r>
              <a:t>Nov–Dec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3867912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F8FC"/>
                </a:solidFill>
              </a:defRPr>
            </a:pPr>
            <a:r>
              <a:t>Trust / robustness evaluation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0" y="3867912"/>
            <a:ext cx="6400800" cy="310896"/>
          </a:xfrm>
          <a:prstGeom prst="roundRect">
            <a:avLst/>
          </a:prstGeom>
          <a:solidFill>
            <a:srgbClr val="102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6854613" y="3858768"/>
            <a:ext cx="2194560" cy="310896"/>
          </a:xfrm>
          <a:prstGeom prst="roundRect">
            <a:avLst/>
          </a:prstGeom>
          <a:solidFill>
            <a:srgbClr val="26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1018520" y="386791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AFBED2"/>
                </a:solidFill>
              </a:defRPr>
            </a:pPr>
            <a:r>
              <a:t>Dec 2026–Jan 2027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4526279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F8FC"/>
                </a:solidFill>
              </a:defRPr>
            </a:pPr>
            <a:r>
              <a:t>Comparison + dashboard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0" y="4526279"/>
            <a:ext cx="6400800" cy="310896"/>
          </a:xfrm>
          <a:prstGeom prst="roundRect">
            <a:avLst/>
          </a:prstGeom>
          <a:solidFill>
            <a:srgbClr val="102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7589520" y="4517137"/>
            <a:ext cx="2194560" cy="310896"/>
          </a:xfrm>
          <a:prstGeom prst="roundRect">
            <a:avLst/>
          </a:prstGeom>
          <a:solidFill>
            <a:srgbClr val="4CD2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1018520" y="4526279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AFBED2"/>
                </a:solidFill>
              </a:defRPr>
            </a:pPr>
            <a:r>
              <a:t>Jan–Feb 2027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184648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F8FC"/>
                </a:solidFill>
              </a:defRPr>
            </a:pPr>
            <a:r>
              <a:t>Testing + documentation + IEEE paper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0" y="5184648"/>
            <a:ext cx="6400800" cy="310896"/>
          </a:xfrm>
          <a:prstGeom prst="roundRect">
            <a:avLst/>
          </a:prstGeom>
          <a:solidFill>
            <a:srgbClr val="102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8778240" y="5148072"/>
            <a:ext cx="2194560" cy="310896"/>
          </a:xfrm>
          <a:prstGeom prst="roundRect">
            <a:avLst/>
          </a:prstGeom>
          <a:solidFill>
            <a:srgbClr val="FFB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1018520" y="518464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AFBED2"/>
                </a:solidFill>
              </a:defRPr>
            </a:pPr>
            <a:r>
              <a:t>Feb–Mar 2027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0352" y="6510528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FBED2"/>
                </a:solidFill>
              </a:defRPr>
            </a:pPr>
            <a:r>
              <a:t>TRUSTXAI  |  FINAL YEAR PROJECT • PHASE 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01400" y="6473952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AFBED2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2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6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8FC"/>
                </a:solidFill>
              </a:defRPr>
            </a:pPr>
            <a:r>
              <a:t>14. Expected Outcomes &amp; 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5039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FBED2"/>
                </a:solidFill>
              </a:defRPr>
            </a:pPr>
            <a:r>
              <a:t>What the project aims to deliver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188720"/>
            <a:ext cx="5486400" cy="4800600"/>
          </a:xfrm>
          <a:prstGeom prst="roundRect">
            <a:avLst/>
          </a:prstGeom>
          <a:solidFill>
            <a:srgbClr val="102037"/>
          </a:solidFill>
          <a:ln>
            <a:solidFill>
              <a:srgbClr val="1E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335024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ADCFF"/>
                </a:solidFill>
              </a:defRPr>
            </a:pPr>
            <a:r>
              <a:t>EXPECTED OUTCOMES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19072"/>
            <a:ext cx="5120640" cy="4142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F5F8FC"/>
                </a:solidFill>
              </a:defRPr>
            </a:pPr>
            <a:r>
              <a:t>• Comparative benchmark of selected AI models for IDS</a:t>
            </a:r>
            <a:br/>
            <a:r>
              <a:t>• Comparative analysis of selected XAI methods</a:t>
            </a:r>
            <a:br/>
            <a:r>
              <a:t>• Local and global explanations</a:t>
            </a:r>
            <a:br/>
            <a:r>
              <a:t>• Explanation quality and stability analysis</a:t>
            </a:r>
            <a:br/>
            <a:r>
              <a:t>• Robustness and efficiency analysis</a:t>
            </a:r>
            <a:br/>
            <a:r>
              <a:t>• Trust-oriented evaluation methodology</a:t>
            </a:r>
            <a:br/>
            <a:r>
              <a:t>• Scenario-based recommendations</a:t>
            </a:r>
            <a:br/>
            <a:r>
              <a:t>• Optional demonstration dashboard</a:t>
            </a:r>
            <a:br/>
            <a:r>
              <a:t>• Conference-ready research manuscript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188720"/>
            <a:ext cx="5440680" cy="4800600"/>
          </a:xfrm>
          <a:prstGeom prst="roundRect">
            <a:avLst/>
          </a:prstGeom>
          <a:solidFill>
            <a:srgbClr val="102037"/>
          </a:solidFill>
          <a:ln>
            <a:solidFill>
              <a:srgbClr val="1E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0" y="1335024"/>
            <a:ext cx="5074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6A0FF"/>
                </a:solidFill>
              </a:defRPr>
            </a:pPr>
            <a:r>
              <a:t>CORE REFERENCES TO VERIFY / EXPAND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719072"/>
            <a:ext cx="5074920" cy="4142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F5F8FC"/>
                </a:solidFill>
              </a:defRPr>
            </a:pPr>
            <a:r>
              <a:t>• Lundberg &amp; Lee, “A Unified Approach to Interpreting Model Predictions,” NeurIPS, 2017.</a:t>
            </a:r>
            <a:br/>
            <a:r>
              <a:t>• Ribeiro, Singh &amp; Guestrin, “Why Should I Trust You?,” KDD, 2016.</a:t>
            </a:r>
            <a:br/>
            <a:r>
              <a:t>• Recent IEEE research on XAI + IDS (2022–2026).</a:t>
            </a:r>
            <a:br/>
            <a:r>
              <a:t>• CICIDS2017, UNSW-NB15, TON_IoT and Edge-IIoTset dataset documentation.</a:t>
            </a:r>
            <a:br/>
            <a:br/>
            <a:r>
              <a:t>The final review PPT should use complete, verified IEEE-style bibliographic entries.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6510528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FBED2"/>
                </a:solidFill>
              </a:defRPr>
            </a:pPr>
            <a:r>
              <a:t>TRUSTXAI  |  FINAL YEAR PROJECT • PHASE 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01400" y="6473952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AFBED2"/>
                </a:solidFill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1744</Words>
  <Application>Microsoft Office PowerPoint</Application>
  <PresentationFormat>Widescreen</PresentationFormat>
  <Paragraphs>182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GOOGLE. PLAYSTORE.</cp:lastModifiedBy>
  <cp:revision>2</cp:revision>
  <dcterms:created xsi:type="dcterms:W3CDTF">2013-01-27T09:14:16Z</dcterms:created>
  <dcterms:modified xsi:type="dcterms:W3CDTF">2026-08-26T14:08:48Z</dcterms:modified>
  <cp:category/>
</cp:coreProperties>
</file>
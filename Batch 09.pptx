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4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dt" idx="4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</a:rPr>
              <a:t>&lt;date/time&gt;</a:t>
            </a:r>
          </a:p>
        </p:txBody>
      </p:sp>
      <p:sp>
        <p:nvSpPr>
          <p:cNvPr id="8" name="PlaceHolder 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  <p:txBody>
          <a:bodyPr lIns="90000" tIns="46800" rIns="90000" bIns="4680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</a:rPr>
              <a:t>Click to edit the notes format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ftr" idx="5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6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0DDFDBF-A0E5-4FD1-A5FF-394D3C2149DE}" type="slidenum">
              <a:rPr lang="en-US" sz="1200" b="0" strike="noStrike" spc="-1">
                <a:solidFill>
                  <a:srgbClr val="000000"/>
                </a:solidFill>
                <a:latin typeface="Aria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73240BA-65B8-4BD3-B06B-325AB1F26EA4}" type="slidenum">
              <a:rPr lang="en-US" sz="1200" b="0" strike="noStrike" spc="-1">
                <a:solidFill>
                  <a:srgbClr val="000000"/>
                </a:solidFill>
                <a:latin typeface="Arial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2D74799-4BD6-4606-9242-A882FCE1CEF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strike="noStrike" spc="-1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1055DAD-75B3-4D6D-9BD4-BDBFA32FB127}" type="slidenum">
              <a:rPr lang="en-US" sz="1400" b="0" strike="noStrike" spc="-1">
                <a:solidFill>
                  <a:srgbClr val="000000"/>
                </a:solidFill>
                <a:latin typeface="Arial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304560" y="3487320"/>
            <a:ext cx="4267080" cy="251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lnSpc>
                <a:spcPct val="8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Presented by, </a:t>
            </a:r>
          </a:p>
          <a:p>
            <a:pPr>
              <a:lnSpc>
                <a:spcPct val="80000"/>
              </a:lnSpc>
              <a:spcBef>
                <a:spcPts val="7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80000"/>
              </a:lnSpc>
              <a:spcBef>
                <a:spcPts val="45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FF"/>
                </a:solidFill>
                <a:latin typeface="Arial"/>
              </a:rPr>
              <a:t>1. Gokul Vijay R(911123149012) 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80000"/>
              </a:lnSpc>
              <a:spcBef>
                <a:spcPts val="45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FF"/>
                </a:solidFill>
                <a:latin typeface="Arial"/>
              </a:rPr>
              <a:t>2. Prasath G (911123149033)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80000"/>
              </a:lnSpc>
              <a:spcBef>
                <a:spcPts val="45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FF"/>
                </a:solidFill>
                <a:latin typeface="Arial"/>
              </a:rPr>
              <a:t>3. Sayee Naveen J S (911123149042)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80000"/>
              </a:lnSpc>
              <a:spcBef>
                <a:spcPts val="45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0099FF"/>
          </a:solidFill>
          <a:ln w="9360">
            <a:solidFill>
              <a:srgbClr val="00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i="1" strike="noStrike" spc="-1">
                <a:solidFill>
                  <a:srgbClr val="000099"/>
                </a:solidFill>
                <a:latin typeface="Arial"/>
              </a:rPr>
              <a:t> Department of  CSE (Cyber Security)		               		   First Review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i="1" strike="noStrike" spc="-1">
                <a:solidFill>
                  <a:srgbClr val="000099"/>
                </a:solidFill>
                <a:latin typeface="Arial"/>
              </a:rPr>
              <a:t> SRM Madurai College for Engg &amp; Tech                                                 Date:27.08.2026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Rectangle 5"/>
          <p:cNvSpPr/>
          <p:nvPr/>
        </p:nvSpPr>
        <p:spPr>
          <a:xfrm>
            <a:off x="4800600" y="3487680"/>
            <a:ext cx="3657600" cy="16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rmAutofit/>
          </a:bodyPr>
          <a:lstStyle/>
          <a:p>
            <a:pPr>
              <a:lnSpc>
                <a:spcPct val="80000"/>
              </a:lnSpc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Guided by,</a:t>
            </a:r>
          </a:p>
          <a:p>
            <a:pPr>
              <a:lnSpc>
                <a:spcPct val="80000"/>
              </a:lnSpc>
              <a:spcBef>
                <a:spcPts val="45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80000"/>
              </a:lnSpc>
              <a:spcBef>
                <a:spcPts val="45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FF"/>
                </a:solidFill>
                <a:latin typeface="Arial"/>
              </a:rPr>
              <a:t>Mr. S. Karuppasamy Pandian 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80000"/>
              </a:lnSpc>
              <a:spcBef>
                <a:spcPts val="45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FF"/>
                </a:solidFill>
                <a:latin typeface="Arial"/>
              </a:rPr>
              <a:t>Assistant Professor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80000"/>
              </a:lnSpc>
              <a:spcBef>
                <a:spcPts val="7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strike="noStrike" spc="-1">
                <a:solidFill>
                  <a:srgbClr val="0000FF"/>
                </a:solidFill>
                <a:latin typeface="Arial"/>
              </a:rPr>
              <a:t> 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Rectangle 7"/>
          <p:cNvSpPr/>
          <p:nvPr/>
        </p:nvSpPr>
        <p:spPr>
          <a:xfrm>
            <a:off x="0" y="228600"/>
            <a:ext cx="9144000" cy="304920"/>
          </a:xfrm>
          <a:prstGeom prst="rect">
            <a:avLst/>
          </a:prstGeom>
          <a:gradFill rotWithShape="0">
            <a:gsLst>
              <a:gs pos="0">
                <a:srgbClr val="0099FF"/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title"/>
          </p:nvPr>
        </p:nvSpPr>
        <p:spPr>
          <a:xfrm>
            <a:off x="304560" y="703440"/>
            <a:ext cx="8001000" cy="2573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strike="noStrike" spc="-1">
                <a:solidFill>
                  <a:srgbClr val="000000"/>
                </a:solidFill>
                <a:latin typeface="Arial"/>
              </a:rPr>
              <a:t>Academic Year 2026-2027</a:t>
            </a:r>
            <a:br>
              <a:rPr sz="3200"/>
            </a:br>
            <a:br>
              <a:rPr sz="3200"/>
            </a:br>
            <a:r>
              <a:rPr lang="en-US" sz="1600" b="1" strike="noStrike" spc="-1">
                <a:solidFill>
                  <a:srgbClr val="FF0000"/>
                </a:solidFill>
                <a:latin typeface="Arial"/>
              </a:rPr>
              <a:t>Project Batch No. 09</a:t>
            </a:r>
            <a:br>
              <a:rPr sz="1600"/>
            </a:br>
            <a:r>
              <a:rPr lang="en-US" sz="2000" b="1" strike="noStrike" spc="-1">
                <a:solidFill>
                  <a:srgbClr val="FF0000"/>
                </a:solidFill>
                <a:latin typeface="Arial"/>
              </a:rPr>
              <a:t>TrustXAI: A Comprehensive Framework for Trustworthy Explainable Artificial Intelligence in Cyber Threat Detection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  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" name="Picture 7"/>
          <p:cNvPicPr/>
          <p:nvPr/>
        </p:nvPicPr>
        <p:blipFill>
          <a:blip r:embed="rId2"/>
          <a:stretch/>
        </p:blipFill>
        <p:spPr>
          <a:xfrm>
            <a:off x="1981080" y="0"/>
            <a:ext cx="4838760" cy="8762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40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1" strike="noStrike" spc="-1">
                <a:solidFill>
                  <a:srgbClr val="FF0000"/>
                </a:solidFill>
                <a:latin typeface="Arial"/>
              </a:rPr>
              <a:t>Contents </a:t>
            </a: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 </a:t>
            </a:r>
          </a:p>
        </p:txBody>
      </p:sp>
      <p:sp>
        <p:nvSpPr>
          <p:cNvPr id="19" name="Rectangle 4"/>
          <p:cNvSpPr/>
          <p:nvPr/>
        </p:nvSpPr>
        <p:spPr>
          <a:xfrm>
            <a:off x="804960" y="1360440"/>
            <a:ext cx="7424640" cy="443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rm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buClr>
                <a:srgbClr val="0000FF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strike="noStrike" spc="-1">
                <a:solidFill>
                  <a:srgbClr val="0000FF"/>
                </a:solidFill>
                <a:latin typeface="Arial"/>
              </a:rPr>
              <a:t>Introduction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spcBef>
                <a:spcPts val="400"/>
              </a:spcBef>
              <a:buClr>
                <a:srgbClr val="0000FF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strike="noStrike" spc="-1">
                <a:solidFill>
                  <a:srgbClr val="0000FF"/>
                </a:solidFill>
                <a:latin typeface="Arial"/>
              </a:rPr>
              <a:t>Problem Statement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spcBef>
                <a:spcPts val="400"/>
              </a:spcBef>
              <a:buClr>
                <a:srgbClr val="0000FF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strike="noStrike" spc="-1">
                <a:solidFill>
                  <a:srgbClr val="0000FF"/>
                </a:solidFill>
                <a:latin typeface="Arial"/>
              </a:rPr>
              <a:t>Objectives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spcBef>
                <a:spcPts val="400"/>
              </a:spcBef>
              <a:buClr>
                <a:srgbClr val="0000FF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strike="noStrike" spc="-1">
                <a:solidFill>
                  <a:srgbClr val="0000FF"/>
                </a:solidFill>
                <a:latin typeface="Arial"/>
              </a:rPr>
              <a:t>Literature Review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spcBef>
                <a:spcPts val="400"/>
              </a:spcBef>
              <a:buClr>
                <a:srgbClr val="0000FF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strike="noStrike" spc="-1">
                <a:solidFill>
                  <a:srgbClr val="0000FF"/>
                </a:solidFill>
                <a:latin typeface="Arial"/>
              </a:rPr>
              <a:t>Research / Technical Gap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spcBef>
                <a:spcPts val="400"/>
              </a:spcBef>
              <a:buClr>
                <a:srgbClr val="0000FF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strike="noStrike" spc="-1">
                <a:solidFill>
                  <a:srgbClr val="0000FF"/>
                </a:solidFill>
                <a:latin typeface="Arial"/>
              </a:rPr>
              <a:t>Proposed Methodology / Approach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spcBef>
                <a:spcPts val="400"/>
              </a:spcBef>
              <a:buClr>
                <a:srgbClr val="0000FF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strike="noStrike" spc="-1">
                <a:solidFill>
                  <a:srgbClr val="0000FF"/>
                </a:solidFill>
                <a:latin typeface="Arial"/>
              </a:rPr>
              <a:t>Hardware / Software requirements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spcBef>
                <a:spcPts val="400"/>
              </a:spcBef>
              <a:buClr>
                <a:srgbClr val="0000FF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strike="noStrike" spc="-1">
                <a:solidFill>
                  <a:srgbClr val="0000FF"/>
                </a:solidFill>
                <a:latin typeface="Arial"/>
              </a:rPr>
              <a:t>Time line / Gantt Chart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spcBef>
                <a:spcPts val="400"/>
              </a:spcBef>
              <a:buClr>
                <a:srgbClr val="0000FF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strike="noStrike" spc="-1">
                <a:solidFill>
                  <a:srgbClr val="0000FF"/>
                </a:solidFill>
                <a:latin typeface="Arial"/>
              </a:rPr>
              <a:t>Expected Outcomes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spcBef>
                <a:spcPts val="400"/>
              </a:spcBef>
              <a:buClr>
                <a:srgbClr val="0000FF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strike="noStrike" spc="-1">
                <a:solidFill>
                  <a:srgbClr val="0000FF"/>
                </a:solidFill>
                <a:latin typeface="Arial"/>
              </a:rPr>
              <a:t>References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451"/>
              </a:spcBef>
              <a:buClr>
                <a:srgbClr val="0000FF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45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Rectangle 5"/>
          <p:cNvSpPr/>
          <p:nvPr/>
        </p:nvSpPr>
        <p:spPr>
          <a:xfrm>
            <a:off x="0" y="228600"/>
            <a:ext cx="9144000" cy="304920"/>
          </a:xfrm>
          <a:prstGeom prst="rect">
            <a:avLst/>
          </a:prstGeom>
          <a:gradFill rotWithShape="0">
            <a:gsLst>
              <a:gs pos="0">
                <a:srgbClr val="0099FF"/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Box 7"/>
          <p:cNvSpPr/>
          <p:nvPr/>
        </p:nvSpPr>
        <p:spPr>
          <a:xfrm>
            <a:off x="0" y="914400"/>
            <a:ext cx="83808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56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Arial"/>
              </a:rPr>
              <a:t>    </a:t>
            </a:r>
            <a:r>
              <a:rPr lang="en-US" sz="900" b="0" strike="noStrike" spc="-1">
                <a:solidFill>
                  <a:srgbClr val="0066FF"/>
                </a:solidFill>
                <a:latin typeface="Arial"/>
              </a:rPr>
              <a:t>Estd.:2023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0099FF"/>
          </a:solidFill>
          <a:ln w="9360">
            <a:solidFill>
              <a:srgbClr val="00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i="1" strike="noStrike" spc="-1">
                <a:solidFill>
                  <a:srgbClr val="000099"/>
                </a:solidFill>
                <a:latin typeface="Arial"/>
              </a:rPr>
              <a:t>  Department of  CSE (Cyber Security)		               		   First Review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i="1" strike="noStrike" spc="-1">
                <a:solidFill>
                  <a:srgbClr val="000099"/>
                </a:solidFill>
                <a:latin typeface="Arial"/>
              </a:rPr>
              <a:t> SRM Madurai College for Engg &amp; Tech                                                 Date:27.08.2026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" name="Picture 8"/>
          <p:cNvPicPr/>
          <p:nvPr/>
        </p:nvPicPr>
        <p:blipFill>
          <a:blip r:embed="rId3"/>
          <a:stretch/>
        </p:blipFill>
        <p:spPr>
          <a:xfrm>
            <a:off x="0" y="0"/>
            <a:ext cx="981000" cy="1219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40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1" strike="noStrike" spc="-1">
                <a:solidFill>
                  <a:srgbClr val="FF0000"/>
                </a:solidFill>
                <a:latin typeface="Arial"/>
              </a:rPr>
              <a:t>Introduction</a:t>
            </a:r>
            <a:r>
              <a:rPr lang="en-US" sz="4000" b="1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 </a:t>
            </a:r>
          </a:p>
        </p:txBody>
      </p:sp>
      <p:sp>
        <p:nvSpPr>
          <p:cNvPr id="25" name="Rectangle 4"/>
          <p:cNvSpPr/>
          <p:nvPr/>
        </p:nvSpPr>
        <p:spPr>
          <a:xfrm>
            <a:off x="533520" y="1523880"/>
            <a:ext cx="8381880" cy="441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rmAutofit/>
          </a:bodyPr>
          <a:lstStyle/>
          <a:p>
            <a:pPr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Rectangle 5"/>
          <p:cNvSpPr/>
          <p:nvPr/>
        </p:nvSpPr>
        <p:spPr>
          <a:xfrm>
            <a:off x="0" y="228600"/>
            <a:ext cx="9144000" cy="304920"/>
          </a:xfrm>
          <a:prstGeom prst="rect">
            <a:avLst/>
          </a:prstGeom>
          <a:gradFill rotWithShape="0">
            <a:gsLst>
              <a:gs pos="0">
                <a:srgbClr val="0099FF"/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Box 7"/>
          <p:cNvSpPr/>
          <p:nvPr/>
        </p:nvSpPr>
        <p:spPr>
          <a:xfrm>
            <a:off x="0" y="914400"/>
            <a:ext cx="838080" cy="23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56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Arial"/>
              </a:rPr>
              <a:t>    </a:t>
            </a:r>
            <a:r>
              <a:rPr lang="en-US" sz="900" b="0" strike="noStrike" spc="-1">
                <a:solidFill>
                  <a:srgbClr val="0066FF"/>
                </a:solidFill>
                <a:latin typeface="Arial"/>
              </a:rPr>
              <a:t>Estd.1995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0099FF"/>
          </a:solidFill>
          <a:ln w="9360">
            <a:solidFill>
              <a:srgbClr val="00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i="1" strike="noStrike" spc="-1">
                <a:solidFill>
                  <a:srgbClr val="000099"/>
                </a:solidFill>
                <a:latin typeface="Arial"/>
              </a:rPr>
              <a:t> Department of  CSE (Cyber Security)		               		   First Review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i="1" strike="noStrike" spc="-1">
                <a:solidFill>
                  <a:srgbClr val="000099"/>
                </a:solidFill>
                <a:latin typeface="Arial"/>
              </a:rPr>
              <a:t> SRM Madurai College for Engg &amp; Tech                                                 Date:27.08.2026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" name="Picture 8"/>
          <p:cNvPicPr/>
          <p:nvPr/>
        </p:nvPicPr>
        <p:blipFill>
          <a:blip r:embed="rId2"/>
          <a:stretch/>
        </p:blipFill>
        <p:spPr>
          <a:xfrm>
            <a:off x="0" y="0"/>
            <a:ext cx="981000" cy="1219320"/>
          </a:xfrm>
          <a:prstGeom prst="rect">
            <a:avLst/>
          </a:prstGeom>
          <a:ln w="0">
            <a:noFill/>
          </a:ln>
        </p:spPr>
      </p:pic>
      <p:sp>
        <p:nvSpPr>
          <p:cNvPr id="30" name="Rectangle 8"/>
          <p:cNvSpPr/>
          <p:nvPr/>
        </p:nvSpPr>
        <p:spPr>
          <a:xfrm>
            <a:off x="415800" y="1687680"/>
            <a:ext cx="8382240" cy="40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rmAutofit fontScale="87222"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spcAft>
                <a:spcPts val="700"/>
              </a:spcAft>
              <a:buClr>
                <a:srgbClr val="222B36"/>
              </a:buClr>
              <a:buFont typeface="Apto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222B36"/>
                </a:solidFill>
                <a:latin typeface="Aptos"/>
              </a:rPr>
              <a:t> Cyber threats increasingly require automated and adaptive monitoring mechanisms.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700"/>
              </a:spcAft>
              <a:buClr>
                <a:srgbClr val="222B36"/>
              </a:buClr>
              <a:buFont typeface="Apto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222B36"/>
                </a:solidFill>
                <a:latin typeface="Aptos"/>
              </a:rPr>
              <a:t> Machine Learning (ML)-based Intrusion Detection Systems (IDS) can identify complex patterns in network traffic.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70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222B36"/>
                </a:solidFill>
                <a:latin typeface="Aptos"/>
              </a:rPr>
              <a:t>• High-performing ML models can become difficult for humans to interpret, creating a black-box problem.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70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222B36"/>
                </a:solidFill>
                <a:latin typeface="Aptos"/>
              </a:rPr>
              <a:t>• Explainable AI (XAI) methods such as LIME and SHAP can expose factors behind individual predictions.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700"/>
              </a:spcAft>
              <a:buClr>
                <a:srgbClr val="222B36"/>
              </a:buClr>
              <a:buFont typeface="Apto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222B36"/>
                </a:solidFill>
                <a:latin typeface="Aptos"/>
              </a:rPr>
              <a:t> TrustXAI investigates detection performance together with explainability, robustness, stability and efficiency.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601"/>
              </a:spcBef>
              <a:buClr>
                <a:srgbClr val="0000FF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40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1" strike="noStrike" spc="-1">
                <a:solidFill>
                  <a:srgbClr val="FF0000"/>
                </a:solidFill>
                <a:latin typeface="Arial"/>
              </a:rPr>
              <a:t>Problem Statement</a:t>
            </a: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   </a:t>
            </a:r>
          </a:p>
        </p:txBody>
      </p:sp>
      <p:sp>
        <p:nvSpPr>
          <p:cNvPr id="32" name="Rectangle 5"/>
          <p:cNvSpPr/>
          <p:nvPr/>
        </p:nvSpPr>
        <p:spPr>
          <a:xfrm>
            <a:off x="0" y="228600"/>
            <a:ext cx="9144000" cy="304920"/>
          </a:xfrm>
          <a:prstGeom prst="rect">
            <a:avLst/>
          </a:prstGeom>
          <a:gradFill rotWithShape="0">
            <a:gsLst>
              <a:gs pos="0">
                <a:srgbClr val="0099FF"/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" name="Picture 6" descr="emblem-blue"/>
          <p:cNvPicPr/>
          <p:nvPr/>
        </p:nvPicPr>
        <p:blipFill>
          <a:blip r:embed="rId2"/>
          <a:stretch/>
        </p:blipFill>
        <p:spPr>
          <a:xfrm>
            <a:off x="0" y="76320"/>
            <a:ext cx="887400" cy="914400"/>
          </a:xfrm>
          <a:prstGeom prst="rect">
            <a:avLst/>
          </a:prstGeom>
          <a:ln w="0">
            <a:noFill/>
          </a:ln>
        </p:spPr>
      </p:pic>
      <p:sp>
        <p:nvSpPr>
          <p:cNvPr id="34" name="Text Box 7"/>
          <p:cNvSpPr/>
          <p:nvPr/>
        </p:nvSpPr>
        <p:spPr>
          <a:xfrm>
            <a:off x="0" y="914400"/>
            <a:ext cx="838080" cy="23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56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Arial"/>
              </a:rPr>
              <a:t>    </a:t>
            </a:r>
            <a:r>
              <a:rPr lang="en-US" sz="900" b="0" strike="noStrike" spc="-1">
                <a:solidFill>
                  <a:srgbClr val="0066FF"/>
                </a:solidFill>
                <a:latin typeface="Arial"/>
              </a:rPr>
              <a:t>Estd.1995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Rectangle 8"/>
          <p:cNvSpPr/>
          <p:nvPr/>
        </p:nvSpPr>
        <p:spPr>
          <a:xfrm>
            <a:off x="533520" y="1905120"/>
            <a:ext cx="8381880" cy="40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rmAutofit/>
          </a:bodyPr>
          <a:lstStyle/>
          <a:p>
            <a:pPr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AI-based IDS can provide strong classification performance, but a prediction alone may not explain why traffic was classified as an attack. In security operations, opaque or unstable explanations can reduce analyst confidence and limit practical use</a:t>
            </a:r>
          </a:p>
          <a:p>
            <a:pPr>
              <a:spcBef>
                <a:spcPts val="601"/>
              </a:spcBef>
              <a:buClr>
                <a:srgbClr val="0000FF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0099FF"/>
          </a:solidFill>
          <a:ln w="9360">
            <a:solidFill>
              <a:srgbClr val="00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i="1" strike="noStrike" spc="-1">
                <a:solidFill>
                  <a:srgbClr val="000099"/>
                </a:solidFill>
                <a:latin typeface="Arial"/>
              </a:rPr>
              <a:t> Department of  CSE (Cyber Security)		               		   First Review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i="1" strike="noStrike" spc="-1">
                <a:solidFill>
                  <a:srgbClr val="000099"/>
                </a:solidFill>
                <a:latin typeface="Arial"/>
              </a:rPr>
              <a:t> SRM Madurai College for Engg &amp; Tech                                                 Date:27.08.2026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" name="Picture 8"/>
          <p:cNvPicPr/>
          <p:nvPr/>
        </p:nvPicPr>
        <p:blipFill>
          <a:blip r:embed="rId3"/>
          <a:stretch/>
        </p:blipFill>
        <p:spPr>
          <a:xfrm>
            <a:off x="0" y="0"/>
            <a:ext cx="981000" cy="1219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066680" y="609480"/>
            <a:ext cx="7391520" cy="106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1" strike="noStrike" spc="-1">
                <a:solidFill>
                  <a:srgbClr val="FF0000"/>
                </a:solidFill>
                <a:latin typeface="Arial"/>
              </a:rPr>
              <a:t>Objectives 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Rectangle 5"/>
          <p:cNvSpPr/>
          <p:nvPr/>
        </p:nvSpPr>
        <p:spPr>
          <a:xfrm>
            <a:off x="0" y="228600"/>
            <a:ext cx="9144000" cy="304920"/>
          </a:xfrm>
          <a:prstGeom prst="rect">
            <a:avLst/>
          </a:prstGeom>
          <a:gradFill rotWithShape="0">
            <a:gsLst>
              <a:gs pos="0">
                <a:srgbClr val="0099FF"/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Box 7"/>
          <p:cNvSpPr/>
          <p:nvPr/>
        </p:nvSpPr>
        <p:spPr>
          <a:xfrm>
            <a:off x="0" y="914400"/>
            <a:ext cx="838080" cy="23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56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Arial"/>
              </a:rPr>
              <a:t>    </a:t>
            </a:r>
            <a:r>
              <a:rPr lang="en-US" sz="900" b="0" strike="noStrike" spc="-1">
                <a:solidFill>
                  <a:srgbClr val="0066FF"/>
                </a:solidFill>
                <a:latin typeface="Arial"/>
              </a:rPr>
              <a:t>Estd.1995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Rectangle 8"/>
          <p:cNvSpPr/>
          <p:nvPr/>
        </p:nvSpPr>
        <p:spPr>
          <a:xfrm>
            <a:off x="533520" y="1905120"/>
            <a:ext cx="8381880" cy="40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rmAutofit fontScale="71666" lnSpcReduction="20000"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spcAft>
                <a:spcPts val="700"/>
              </a:spcAft>
              <a:buClr>
                <a:srgbClr val="222B36"/>
              </a:buClr>
              <a:buFont typeface="Apto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222B36"/>
                </a:solidFill>
                <a:latin typeface="Aptos"/>
              </a:rPr>
              <a:t> Develop a common evaluation framework for selected AI-based IDS models.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70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222B36"/>
                </a:solidFill>
                <a:latin typeface="Aptos"/>
              </a:rPr>
              <a:t>• Compare selected ML models using suitable cybersecurity datasets.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70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222B36"/>
                </a:solidFill>
                <a:latin typeface="Aptos"/>
              </a:rPr>
              <a:t>• Apply selected XAI methods to generate local and global explanations.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70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222B36"/>
                </a:solidFill>
                <a:latin typeface="Aptos"/>
              </a:rPr>
              <a:t>• Evaluate explanation quality using fidelity, stability, consistency and runtime where applicable.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70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222B36"/>
                </a:solidFill>
                <a:latin typeface="Aptos"/>
              </a:rPr>
              <a:t>• Evaluate robustness, computational efficiency and resource usage alongside standard detection metrics.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700"/>
              </a:spcAft>
              <a:buClr>
                <a:srgbClr val="222B36"/>
              </a:buClr>
              <a:buFont typeface="Apto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222B36"/>
                </a:solidFill>
                <a:latin typeface="Aptos"/>
              </a:rPr>
              <a:t>• Compare AI + XAI combinations using multiple evidence dimensions rather than accuracy alone.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700"/>
              </a:spcAft>
              <a:buClr>
                <a:srgbClr val="222B36"/>
              </a:buClr>
              <a:buFont typeface="Aptos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222B36"/>
                </a:solidFill>
                <a:latin typeface="Aptos"/>
              </a:rPr>
              <a:t>• Recommend suitable combinations for different cybersecurity deployment scenarios.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601"/>
              </a:spcBef>
              <a:buClr>
                <a:srgbClr val="0000FF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0099FF"/>
          </a:solidFill>
          <a:ln w="9360">
            <a:solidFill>
              <a:srgbClr val="00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i="1" strike="noStrike" spc="-1">
                <a:solidFill>
                  <a:srgbClr val="000099"/>
                </a:solidFill>
                <a:latin typeface="Arial"/>
              </a:rPr>
              <a:t> Department of  CSE (Cyber Security)		               		   First Review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i="1" strike="noStrike" spc="-1">
                <a:solidFill>
                  <a:srgbClr val="000099"/>
                </a:solidFill>
                <a:latin typeface="Arial"/>
              </a:rPr>
              <a:t> SRM Madurai College for Engg &amp; Tech                                                 Date:27.08.2026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" name="Picture 8"/>
          <p:cNvPicPr/>
          <p:nvPr/>
        </p:nvPicPr>
        <p:blipFill>
          <a:blip r:embed="rId2"/>
          <a:stretch/>
        </p:blipFill>
        <p:spPr>
          <a:xfrm>
            <a:off x="0" y="0"/>
            <a:ext cx="981000" cy="1219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066680" y="609480"/>
            <a:ext cx="7391520" cy="106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1" strike="noStrike" spc="-1">
                <a:solidFill>
                  <a:srgbClr val="FF0000"/>
                </a:solidFill>
                <a:latin typeface="Arial"/>
              </a:rPr>
              <a:t>Literature Review 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Rectangle 5"/>
          <p:cNvSpPr/>
          <p:nvPr/>
        </p:nvSpPr>
        <p:spPr>
          <a:xfrm>
            <a:off x="0" y="228600"/>
            <a:ext cx="9144000" cy="304920"/>
          </a:xfrm>
          <a:prstGeom prst="rect">
            <a:avLst/>
          </a:prstGeom>
          <a:gradFill rotWithShape="0">
            <a:gsLst>
              <a:gs pos="0">
                <a:srgbClr val="0099FF"/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Box 7"/>
          <p:cNvSpPr/>
          <p:nvPr/>
        </p:nvSpPr>
        <p:spPr>
          <a:xfrm>
            <a:off x="0" y="914400"/>
            <a:ext cx="838080" cy="23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56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Arial"/>
              </a:rPr>
              <a:t>    </a:t>
            </a:r>
            <a:r>
              <a:rPr lang="en-US" sz="900" b="0" strike="noStrike" spc="-1">
                <a:solidFill>
                  <a:srgbClr val="0066FF"/>
                </a:solidFill>
                <a:latin typeface="Arial"/>
              </a:rPr>
              <a:t>Estd.1995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Rectangle 8"/>
          <p:cNvSpPr/>
          <p:nvPr/>
        </p:nvSpPr>
        <p:spPr>
          <a:xfrm>
            <a:off x="533520" y="1600200"/>
            <a:ext cx="8381880" cy="434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rmAutofit/>
          </a:bodyPr>
          <a:lstStyle/>
          <a:p>
            <a:pPr algn="just"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strike="noStrike" spc="-1" dirty="0">
                <a:solidFill>
                  <a:srgbClr val="0000FF"/>
                </a:solidFill>
                <a:latin typeface="Arial"/>
              </a:rPr>
              <a:t>18 papers reviewed from IEEE Access, IEEE T-IFS, IEEE IoT Journal, Sensors, Frontiers in AI and other credible sources.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601"/>
              </a:spcBef>
              <a:buClr>
                <a:srgbClr val="0000FF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0099FF"/>
          </a:solidFill>
          <a:ln w="9360">
            <a:solidFill>
              <a:srgbClr val="00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i="1" strike="noStrike" spc="-1">
                <a:solidFill>
                  <a:srgbClr val="000099"/>
                </a:solidFill>
                <a:latin typeface="Arial"/>
              </a:rPr>
              <a:t> Department of  CSE (Cyber Security)		               		   First Review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i="1" strike="noStrike" spc="-1">
                <a:solidFill>
                  <a:srgbClr val="000099"/>
                </a:solidFill>
                <a:latin typeface="Arial"/>
              </a:rPr>
              <a:t> SRM Madurai College for Engg &amp; Tech                                                 Date:27.08.2026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" name="Picture 8"/>
          <p:cNvPicPr/>
          <p:nvPr/>
        </p:nvPicPr>
        <p:blipFill>
          <a:blip r:embed="rId2"/>
          <a:stretch/>
        </p:blipFill>
        <p:spPr>
          <a:xfrm>
            <a:off x="0" y="0"/>
            <a:ext cx="981000" cy="121932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50" name="Table 49"/>
          <p:cNvGraphicFramePr/>
          <p:nvPr>
            <p:extLst>
              <p:ext uri="{D42A27DB-BD31-4B8C-83A1-F6EECF244321}">
                <p14:modId xmlns:p14="http://schemas.microsoft.com/office/powerpoint/2010/main" val="960537934"/>
              </p:ext>
            </p:extLst>
          </p:nvPr>
        </p:nvGraphicFramePr>
        <p:xfrm>
          <a:off x="148856" y="2303526"/>
          <a:ext cx="8918824" cy="3807750"/>
        </p:xfrm>
        <a:graphic>
          <a:graphicData uri="http://schemas.openxmlformats.org/drawingml/2006/table">
            <a:tbl>
              <a:tblPr/>
              <a:tblGrid>
                <a:gridCol w="631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59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1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7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41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45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741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39669">
                <a:tc>
                  <a:txBody>
                    <a:bodyPr/>
                    <a:lstStyle/>
                    <a:p>
                      <a:pPr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IN" sz="1200" b="1" strike="noStrike" spc="-1">
                          <a:solidFill>
                            <a:srgbClr val="FFFFFF"/>
                          </a:solidFill>
                          <a:latin typeface="Arial"/>
                        </a:rPr>
                        <a:t>S.No.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IN" sz="1200" b="1" strike="noStrike" spc="-1">
                          <a:solidFill>
                            <a:srgbClr val="FFFFFF"/>
                          </a:solidFill>
                          <a:latin typeface="Arial"/>
                        </a:rPr>
                        <a:t>Paper Title 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IN" sz="1200" b="1" strike="noStrike" spc="-1">
                          <a:solidFill>
                            <a:srgbClr val="FFFFFF"/>
                          </a:solidFill>
                          <a:latin typeface="Arial"/>
                        </a:rPr>
                        <a:t>Name of the Journal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IN" sz="1200" b="1" strike="noStrike" spc="-1">
                          <a:solidFill>
                            <a:srgbClr val="FFFFFF"/>
                          </a:solidFill>
                          <a:latin typeface="Arial"/>
                        </a:rPr>
                        <a:t>Year of Publication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IN" sz="1200" b="1" strike="noStrike" spc="-1">
                          <a:solidFill>
                            <a:srgbClr val="FFFFFF"/>
                          </a:solidFill>
                          <a:latin typeface="Arial"/>
                        </a:rPr>
                        <a:t>Methodology/Algorithm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IN" sz="1200" b="1" strike="noStrike" spc="-1">
                          <a:solidFill>
                            <a:srgbClr val="FFFFFF"/>
                          </a:solidFill>
                          <a:latin typeface="Arial"/>
                        </a:rPr>
                        <a:t>Result / Performance Parameters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IN" sz="1200" b="1" strike="noStrike" spc="-1" dirty="0">
                          <a:solidFill>
                            <a:srgbClr val="FFFFFF"/>
                          </a:solidFill>
                          <a:latin typeface="Arial"/>
                        </a:rPr>
                        <a:t>Limitations</a:t>
                      </a:r>
                      <a:endParaRPr lang="en-US" sz="12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242">
                <a:tc>
                  <a:txBody>
                    <a:bodyPr/>
                    <a:lstStyle/>
                    <a:p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Explainable AI for Intrusion Detection Systems: LIME and SHAP Applicability on Multi-Layer Perceptron</a:t>
                      </a: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IEEE Access</a:t>
                      </a: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MLP classifier + SHAP &amp; LIME</a:t>
                      </a: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High accuracy; local &amp; global explanations compared</a:t>
                      </a: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Explanation stability across LIME/SHAP not fully evaluated</a:t>
                      </a: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242">
                <a:tc>
                  <a:txBody>
                    <a:bodyPr/>
                    <a:lstStyle/>
                    <a:p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Explainable Intrusion Detection Systems (X-IDS): A Survey of Current Methods, Challenges, and Opportunities</a:t>
                      </a: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IEEE Access</a:t>
                      </a: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Survey of feature-, rule- and model-based X-IDS techniques</a:t>
                      </a: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Consolidated taxonomy of explainability approaches for IDS</a:t>
                      </a: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No unified evaluation metric proposed across methods</a:t>
                      </a: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242">
                <a:tc>
                  <a:txBody>
                    <a:bodyPr/>
                    <a:lstStyle/>
                    <a:p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Explainable Artificial Intelligence in Cybersecurity: A Survey</a:t>
                      </a: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IEEE Access</a:t>
                      </a: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Systematic review of XAI methods applied to security</a:t>
                      </a: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Maps XAI techniques to cybersecurity use-cases</a:t>
                      </a: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Limited discussion of trust/robustness trade-offs</a:t>
                      </a: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6242">
                <a:tc>
                  <a:txBody>
                    <a:bodyPr/>
                    <a:lstStyle/>
                    <a:p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E-XAI: Evaluating Black-box Explainable AI Frameworks for Network Intrusion Detection</a:t>
                      </a: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IEEE Access</a:t>
                      </a: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Benchmarking of SHAP, LIME and other post-hoc explainers</a:t>
                      </a: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Comparative fidelity/consistency scores across explainers</a:t>
                      </a: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Evaluation limited to black-box models on select datasets</a:t>
                      </a: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5437">
                <a:tc>
                  <a:txBody>
                    <a:bodyPr/>
                    <a:lstStyle/>
                    <a:p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TEA-EKHO-IDS: An Intrusion Detection System for Industrial CPS with Trustworthy Explainable AI and Enhanced Krill Herd Optimization</a:t>
                      </a: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Peer-to-Peer Networking and Applications</a:t>
                      </a: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Ensemble IDS with optimization + trustworthy XAI layer</a:t>
                      </a: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Improved detection with explainability-driven trust scoring</a:t>
                      </a: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Tested on industrial CPS data; generalizability unverified</a:t>
                      </a:r>
                    </a:p>
                  </a:txBody>
                  <a:tcPr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066680" y="609480"/>
            <a:ext cx="7391520" cy="106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1" strike="noStrike" spc="-1">
                <a:solidFill>
                  <a:srgbClr val="FF0000"/>
                </a:solidFill>
                <a:latin typeface="Arial"/>
              </a:rPr>
              <a:t>Research / Technical Gap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Rectangle 5"/>
          <p:cNvSpPr/>
          <p:nvPr/>
        </p:nvSpPr>
        <p:spPr>
          <a:xfrm>
            <a:off x="0" y="228600"/>
            <a:ext cx="9144000" cy="304920"/>
          </a:xfrm>
          <a:prstGeom prst="rect">
            <a:avLst/>
          </a:prstGeom>
          <a:gradFill rotWithShape="0">
            <a:gsLst>
              <a:gs pos="0">
                <a:srgbClr val="0099FF"/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Box 7"/>
          <p:cNvSpPr/>
          <p:nvPr/>
        </p:nvSpPr>
        <p:spPr>
          <a:xfrm>
            <a:off x="0" y="914400"/>
            <a:ext cx="838080" cy="23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56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Arial"/>
              </a:rPr>
              <a:t>    </a:t>
            </a:r>
            <a:r>
              <a:rPr lang="en-US" sz="900" b="0" strike="noStrike" spc="-1">
                <a:solidFill>
                  <a:srgbClr val="0066FF"/>
                </a:solidFill>
                <a:latin typeface="Arial"/>
              </a:rPr>
              <a:t>Estd.1995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Rectangle 8"/>
          <p:cNvSpPr/>
          <p:nvPr/>
        </p:nvSpPr>
        <p:spPr>
          <a:xfrm>
            <a:off x="533520" y="1905120"/>
            <a:ext cx="8381880" cy="40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b="1" strike="noStrike" spc="-1">
                <a:solidFill>
                  <a:srgbClr val="0000FF"/>
                </a:solidFill>
                <a:latin typeface="Arial"/>
              </a:rPr>
              <a:t>Existing IDS research reports Accuracy, Precision, Recall and F1 Score, but rarely questions whether the result can be trusted.</a:t>
            </a:r>
            <a:br>
              <a:rPr/>
            </a:br>
            <a:r>
              <a:rPr lang="en-GB" b="1" strike="noStrike" spc="-1">
                <a:solidFill>
                  <a:srgbClr val="0000FF"/>
                </a:solidFill>
                <a:latin typeface="Arial"/>
              </a:rPr>
              <a:t>Most XAI-for-IDS studies apply a single explainer (SHAP or LIME) to a single model, without checking whether the explanation itself is stable, consistent or reliable.</a:t>
            </a:r>
            <a:endParaRPr lang="en-US" b="0" strike="noStrike" spc="-1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strike="noStrike" spc="-1">
                <a:solidFill>
                  <a:srgbClr val="0000FF"/>
                </a:solidFill>
                <a:latin typeface="Arial"/>
              </a:rPr>
              <a:t>Robustness, runtime, resource usage and explanation quality are rarely combined into one score, so two models cannot be compared on trustworthiness alone.</a:t>
            </a:r>
            <a:endParaRPr lang="en-US" b="0" strike="noStrike" spc="-1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strike="noStrike" spc="-1">
                <a:solidFill>
                  <a:srgbClr val="0000FF"/>
                </a:solidFill>
                <a:latin typeface="Arial"/>
              </a:rPr>
              <a:t>This gap motivates TrustXAI's objective: build one evaluation framework that scores every AI + XAI combination on detection performance, explainability, robustness, speed and resource usage together.</a:t>
            </a:r>
            <a:endParaRPr lang="en-US" b="0" strike="noStrike" spc="-1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strike="noStrike" spc="-1">
                <a:solidFill>
                  <a:srgbClr val="0000FF"/>
                </a:solidFill>
                <a:latin typeface="Arial"/>
              </a:rPr>
              <a:t>Novelty: a composite Trust Score that recommends the best AI + XAI combination for a given deployment scenario, instead of just the most accurate model.</a:t>
            </a:r>
            <a:r>
              <a:rPr lang="en-US" b="1" strike="noStrike" spc="-1">
                <a:solidFill>
                  <a:srgbClr val="0000FF"/>
                </a:solidFill>
                <a:latin typeface="Arial"/>
              </a:rPr>
              <a:t> </a:t>
            </a:r>
            <a:endParaRPr lang="en-US" b="0" strike="noStrike" spc="-1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b="0" strike="noStrike" spc="-1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601"/>
              </a:spcBef>
              <a:buClr>
                <a:srgbClr val="0000FF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b="0" strike="noStrike" spc="-1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0099FF"/>
          </a:solidFill>
          <a:ln w="9360">
            <a:solidFill>
              <a:srgbClr val="00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i="1" strike="noStrike" spc="-1">
                <a:solidFill>
                  <a:srgbClr val="000099"/>
                </a:solidFill>
                <a:latin typeface="Arial"/>
              </a:rPr>
              <a:t> Department of  CSE (Cyber Security)		               		   First Review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i="1" strike="noStrike" spc="-1">
                <a:solidFill>
                  <a:srgbClr val="000099"/>
                </a:solidFill>
                <a:latin typeface="Arial"/>
              </a:rPr>
              <a:t> SRM Madurai College for Engg &amp; Tech                                                 Date:27.08.2026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" name="Picture 8"/>
          <p:cNvPicPr/>
          <p:nvPr/>
        </p:nvPicPr>
        <p:blipFill>
          <a:blip r:embed="rId2"/>
          <a:stretch/>
        </p:blipFill>
        <p:spPr>
          <a:xfrm>
            <a:off x="0" y="0"/>
            <a:ext cx="981000" cy="1219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066680" y="609480"/>
            <a:ext cx="7391520" cy="106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1" strike="noStrike" spc="-1">
                <a:solidFill>
                  <a:srgbClr val="FF0000"/>
                </a:solidFill>
                <a:latin typeface="Arial"/>
              </a:rPr>
              <a:t>Proposed Methodology/  </a:t>
            </a:r>
            <a:br>
              <a:rPr sz="3600"/>
            </a:br>
            <a:r>
              <a:rPr lang="en-US" sz="3600" b="1" strike="noStrike" spc="-1">
                <a:solidFill>
                  <a:srgbClr val="FF0000"/>
                </a:solidFill>
                <a:latin typeface="Arial"/>
              </a:rPr>
              <a:t>Approach 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Rectangle 5"/>
          <p:cNvSpPr/>
          <p:nvPr/>
        </p:nvSpPr>
        <p:spPr>
          <a:xfrm>
            <a:off x="0" y="228600"/>
            <a:ext cx="9144000" cy="304920"/>
          </a:xfrm>
          <a:prstGeom prst="rect">
            <a:avLst/>
          </a:prstGeom>
          <a:gradFill rotWithShape="0">
            <a:gsLst>
              <a:gs pos="0">
                <a:srgbClr val="0099FF"/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Box 7"/>
          <p:cNvSpPr/>
          <p:nvPr/>
        </p:nvSpPr>
        <p:spPr>
          <a:xfrm>
            <a:off x="0" y="914400"/>
            <a:ext cx="838080" cy="23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56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Arial"/>
              </a:rPr>
              <a:t>    </a:t>
            </a:r>
            <a:r>
              <a:rPr lang="en-US" sz="900" b="0" strike="noStrike" spc="-1">
                <a:solidFill>
                  <a:srgbClr val="0066FF"/>
                </a:solidFill>
                <a:latin typeface="Arial"/>
              </a:rPr>
              <a:t>Estd.1995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Rectangle 8"/>
          <p:cNvSpPr/>
          <p:nvPr/>
        </p:nvSpPr>
        <p:spPr>
          <a:xfrm>
            <a:off x="533520" y="1905120"/>
            <a:ext cx="8381880" cy="40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rmAutofit/>
          </a:bodyPr>
          <a:lstStyle/>
          <a:p>
            <a:pPr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601"/>
              </a:spcBef>
              <a:buClr>
                <a:srgbClr val="0000FF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0099FF"/>
          </a:solidFill>
          <a:ln w="9360">
            <a:solidFill>
              <a:srgbClr val="00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i="1" strike="noStrike" spc="-1">
                <a:solidFill>
                  <a:srgbClr val="000099"/>
                </a:solidFill>
                <a:latin typeface="Arial"/>
              </a:rPr>
              <a:t> Department of  CSE (Cyber Security)		               		   First Review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i="1" strike="noStrike" spc="-1">
                <a:solidFill>
                  <a:srgbClr val="000099"/>
                </a:solidFill>
                <a:latin typeface="Arial"/>
              </a:rPr>
              <a:t> SRM Madurai College for Engg &amp; Tech                                                 Date:27.08.2026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Picture 8"/>
          <p:cNvPicPr/>
          <p:nvPr/>
        </p:nvPicPr>
        <p:blipFill>
          <a:blip r:embed="rId2"/>
          <a:stretch/>
        </p:blipFill>
        <p:spPr>
          <a:xfrm>
            <a:off x="0" y="0"/>
            <a:ext cx="981000" cy="1219320"/>
          </a:xfrm>
          <a:prstGeom prst="rect">
            <a:avLst/>
          </a:prstGeom>
          <a:ln w="0">
            <a:noFill/>
          </a:ln>
        </p:spPr>
      </p:pic>
      <p:sp>
        <p:nvSpPr>
          <p:cNvPr id="63" name="Rectangle 8"/>
          <p:cNvSpPr/>
          <p:nvPr/>
        </p:nvSpPr>
        <p:spPr>
          <a:xfrm>
            <a:off x="490680" y="2057400"/>
            <a:ext cx="8381880" cy="365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rmAutofit/>
          </a:bodyPr>
          <a:lstStyle/>
          <a:p>
            <a:pPr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>
                <a:solidFill>
                  <a:srgbClr val="0000FF"/>
                </a:solidFill>
                <a:latin typeface="Arial"/>
              </a:rPr>
              <a:t>Cyber Dataset → Preprocessing → Train Multiple AI Models (Random Forest, XGBoost, LightGBM, CatBoost, MLP)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>
                <a:solidFill>
                  <a:srgbClr val="0000FF"/>
                </a:solidFill>
                <a:latin typeface="Arial"/>
              </a:rPr>
              <a:t>Generate Predictions → Explain Every Prediction using SHAP, LIME, Anchors &amp; Counterfactual methods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601"/>
              </a:spcBef>
              <a:buClr>
                <a:srgbClr val="0000FF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>
                <a:solidFill>
                  <a:srgbClr val="0000FF"/>
                </a:solidFill>
                <a:latin typeface="Arial"/>
              </a:rPr>
              <a:t>Evaluate Explanation Quality (Fidelity, Stability, Consistency, Runtime) → Compute Trust Score (Accuracy, Robustness, Explainability, Speed, Resource Usage)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>
                <a:solidFill>
                  <a:srgbClr val="0000FF"/>
                </a:solidFill>
                <a:latin typeface="Arial"/>
              </a:rPr>
              <a:t>Compare all AI + XAI Combinations → Recommend Best Combination → Optional Dashboard for real-time prediction, explanation &amp; trust score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8305920" cy="106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1" strike="noStrike" spc="-1">
                <a:solidFill>
                  <a:srgbClr val="FF0000"/>
                </a:solidFill>
                <a:latin typeface="Arial"/>
              </a:rPr>
              <a:t>Hardware and Software Requirements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Rectangle 4"/>
          <p:cNvSpPr/>
          <p:nvPr/>
        </p:nvSpPr>
        <p:spPr>
          <a:xfrm>
            <a:off x="228600" y="1905120"/>
            <a:ext cx="8610480" cy="40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rmAutofit/>
          </a:bodyPr>
          <a:lstStyle/>
          <a:p>
            <a:pPr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solidFill>
                  <a:srgbClr val="0000FF"/>
                </a:solidFill>
                <a:latin typeface="Arial"/>
              </a:rPr>
              <a:t>                                       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601"/>
              </a:spcBef>
              <a:buClr>
                <a:srgbClr val="0000FF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Rectangle 5"/>
          <p:cNvSpPr/>
          <p:nvPr/>
        </p:nvSpPr>
        <p:spPr>
          <a:xfrm>
            <a:off x="0" y="228600"/>
            <a:ext cx="9144000" cy="304920"/>
          </a:xfrm>
          <a:prstGeom prst="rect">
            <a:avLst/>
          </a:prstGeom>
          <a:gradFill rotWithShape="0">
            <a:gsLst>
              <a:gs pos="0">
                <a:srgbClr val="0099FF"/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0099FF"/>
          </a:solidFill>
          <a:ln w="9360">
            <a:solidFill>
              <a:srgbClr val="00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i="1" strike="noStrike" spc="-1">
                <a:solidFill>
                  <a:srgbClr val="000099"/>
                </a:solidFill>
                <a:latin typeface="Arial"/>
              </a:rPr>
              <a:t> Department of  CSE (Cyber Security)		               		   First Review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i="1" strike="noStrike" spc="-1">
                <a:solidFill>
                  <a:srgbClr val="000099"/>
                </a:solidFill>
                <a:latin typeface="Arial"/>
              </a:rPr>
              <a:t> SRM Madurai College for Engg &amp; Tech                                                 Date:27.08.2026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" name="Picture 8"/>
          <p:cNvPicPr/>
          <p:nvPr/>
        </p:nvPicPr>
        <p:blipFill>
          <a:blip r:embed="rId2"/>
          <a:stretch/>
        </p:blipFill>
        <p:spPr>
          <a:xfrm>
            <a:off x="0" y="0"/>
            <a:ext cx="981000" cy="1219320"/>
          </a:xfrm>
          <a:prstGeom prst="rect">
            <a:avLst/>
          </a:prstGeom>
          <a:ln w="0">
            <a:noFill/>
          </a:ln>
        </p:spPr>
      </p:pic>
      <p:sp>
        <p:nvSpPr>
          <p:cNvPr id="69" name="Rectangle 4"/>
          <p:cNvSpPr/>
          <p:nvPr/>
        </p:nvSpPr>
        <p:spPr>
          <a:xfrm>
            <a:off x="380880" y="2057400"/>
            <a:ext cx="8610840" cy="40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rm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spcAft>
                <a:spcPts val="40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1" strike="noStrike" spc="-1">
                <a:solidFill>
                  <a:srgbClr val="0000FF"/>
                </a:solidFill>
                <a:latin typeface="Arial"/>
              </a:rPr>
              <a:t>Hardware Requirements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222B36"/>
                </a:solidFill>
                <a:latin typeface="Aptos"/>
              </a:rPr>
              <a:t>• System with GPU support (NVIDIA CUDA-enabled) for faster model training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222B36"/>
                </a:solidFill>
                <a:latin typeface="Aptos"/>
              </a:rPr>
              <a:t>• Minimum 16 GB RAM, multi-core CPU, 100+ GB free storage for datasets and model artifacts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40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1" strike="noStrike" spc="-1">
                <a:solidFill>
                  <a:srgbClr val="0000FF"/>
                </a:solidFill>
                <a:latin typeface="Arial"/>
              </a:rPr>
              <a:t>Software Requirements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222B36"/>
                </a:solidFill>
                <a:latin typeface="Aptos"/>
              </a:rPr>
              <a:t>• Python 3.x, Jupyter Notebook / Google Colab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222B36"/>
                </a:solidFill>
                <a:latin typeface="Aptos"/>
              </a:rPr>
              <a:t>• ML libraries: Scikit-learn, XGBoost, LightGBM, CatBoost, TensorFlow/Keras or PyTorch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222B36"/>
                </a:solidFill>
                <a:latin typeface="Aptos"/>
              </a:rPr>
              <a:t>• XAI libraries: SHAP, LIME, Alibi (Anchors, Counterfactuals)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222B36"/>
                </a:solidFill>
                <a:latin typeface="Aptos"/>
              </a:rPr>
              <a:t>• Datasets: CICIDS2017 / CICIDS2018 / UNSW-NB15 / TON-IoT / Edge-IIoTset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222B36"/>
                </a:solidFill>
                <a:latin typeface="Aptos"/>
              </a:rPr>
              <a:t>• Dashboard (optional): Streamlit / Flask for the real-time prediction interface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8305920" cy="106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1" strike="noStrike" spc="-1">
                <a:solidFill>
                  <a:srgbClr val="FF0000"/>
                </a:solidFill>
                <a:latin typeface="Arial"/>
              </a:rPr>
              <a:t>Time line / Gantt Chart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Rectangle 4"/>
          <p:cNvSpPr/>
          <p:nvPr/>
        </p:nvSpPr>
        <p:spPr>
          <a:xfrm>
            <a:off x="228600" y="1905120"/>
            <a:ext cx="8610480" cy="40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 dirty="0">
                <a:solidFill>
                  <a:srgbClr val="222B36"/>
                </a:solidFill>
                <a:latin typeface="Aptos"/>
              </a:rPr>
              <a:t>• Phase 1 (</a:t>
            </a:r>
            <a:r>
              <a:rPr lang="en-US" sz="1600" spc="-1" dirty="0">
                <a:solidFill>
                  <a:srgbClr val="222B36"/>
                </a:solidFill>
                <a:latin typeface="Aptos"/>
              </a:rPr>
              <a:t>week</a:t>
            </a:r>
            <a:r>
              <a:rPr lang="en-US" sz="1600" b="0" strike="noStrike" spc="-1" dirty="0">
                <a:solidFill>
                  <a:srgbClr val="222B36"/>
                </a:solidFill>
                <a:latin typeface="Aptos"/>
              </a:rPr>
              <a:t> 1): Literature Survey, Research Gap Identification, Final Problem Statement &amp; Scope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 dirty="0">
                <a:solidFill>
                  <a:srgbClr val="222B36"/>
                </a:solidFill>
                <a:latin typeface="Aptos"/>
              </a:rPr>
              <a:t>• Phase 2 (</a:t>
            </a:r>
            <a:r>
              <a:rPr lang="en-US" sz="1600" spc="-1" dirty="0">
                <a:solidFill>
                  <a:srgbClr val="222B36"/>
                </a:solidFill>
                <a:latin typeface="Aptos"/>
              </a:rPr>
              <a:t>week</a:t>
            </a:r>
            <a:r>
              <a:rPr lang="en-US" sz="1600" b="0" strike="noStrike" spc="-1" dirty="0">
                <a:solidFill>
                  <a:srgbClr val="222B36"/>
                </a:solidFill>
                <a:latin typeface="Aptos"/>
              </a:rPr>
              <a:t> 2): Dataset Collection &amp; Preprocessing (CICIDS2017/2018, UNSW-NB15, TON-IoT, Edge-</a:t>
            </a:r>
            <a:r>
              <a:rPr lang="en-US" sz="1600" b="0" strike="noStrike" spc="-1" dirty="0" err="1">
                <a:solidFill>
                  <a:srgbClr val="222B36"/>
                </a:solidFill>
                <a:latin typeface="Aptos"/>
              </a:rPr>
              <a:t>IIoTset</a:t>
            </a:r>
            <a:r>
              <a:rPr lang="en-US" sz="1600" b="0" strike="noStrike" spc="-1" dirty="0">
                <a:solidFill>
                  <a:srgbClr val="222B36"/>
                </a:solidFill>
                <a:latin typeface="Aptos"/>
              </a:rPr>
              <a:t>)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 dirty="0">
                <a:solidFill>
                  <a:srgbClr val="222B36"/>
                </a:solidFill>
                <a:latin typeface="Aptos"/>
              </a:rPr>
              <a:t>• Phase 3 (</a:t>
            </a:r>
            <a:r>
              <a:rPr lang="en-US" sz="1600" spc="-1" dirty="0">
                <a:solidFill>
                  <a:srgbClr val="222B36"/>
                </a:solidFill>
                <a:latin typeface="Aptos"/>
              </a:rPr>
              <a:t>week</a:t>
            </a:r>
            <a:r>
              <a:rPr lang="en-US" sz="1600" b="0" strike="noStrike" spc="-1" dirty="0">
                <a:solidFill>
                  <a:srgbClr val="222B36"/>
                </a:solidFill>
                <a:latin typeface="Aptos"/>
              </a:rPr>
              <a:t> 3): Build AI Detection Models (Random Forest, </a:t>
            </a:r>
            <a:r>
              <a:rPr lang="en-US" sz="1600" b="0" strike="noStrike" spc="-1" dirty="0" err="1">
                <a:solidFill>
                  <a:srgbClr val="222B36"/>
                </a:solidFill>
                <a:latin typeface="Aptos"/>
              </a:rPr>
              <a:t>XGBoost</a:t>
            </a:r>
            <a:r>
              <a:rPr lang="en-US" sz="1600" b="0" strike="noStrike" spc="-1" dirty="0">
                <a:solidFill>
                  <a:srgbClr val="222B36"/>
                </a:solidFill>
                <a:latin typeface="Aptos"/>
              </a:rPr>
              <a:t>, </a:t>
            </a:r>
            <a:r>
              <a:rPr lang="en-US" sz="1600" b="0" strike="noStrike" spc="-1" dirty="0" err="1">
                <a:solidFill>
                  <a:srgbClr val="222B36"/>
                </a:solidFill>
                <a:latin typeface="Aptos"/>
              </a:rPr>
              <a:t>LightGBM</a:t>
            </a:r>
            <a:r>
              <a:rPr lang="en-US" sz="1600" b="0" strike="noStrike" spc="-1" dirty="0">
                <a:solidFill>
                  <a:srgbClr val="222B36"/>
                </a:solidFill>
                <a:latin typeface="Aptos"/>
              </a:rPr>
              <a:t>, </a:t>
            </a:r>
            <a:r>
              <a:rPr lang="en-US" sz="1600" b="0" strike="noStrike" spc="-1" dirty="0" err="1">
                <a:solidFill>
                  <a:srgbClr val="222B36"/>
                </a:solidFill>
                <a:latin typeface="Aptos"/>
              </a:rPr>
              <a:t>CatBoost</a:t>
            </a:r>
            <a:r>
              <a:rPr lang="en-US" sz="1600" b="0" strike="noStrike" spc="-1" dirty="0">
                <a:solidFill>
                  <a:srgbClr val="222B36"/>
                </a:solidFill>
                <a:latin typeface="Aptos"/>
              </a:rPr>
              <a:t>, MLP)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 dirty="0">
                <a:solidFill>
                  <a:srgbClr val="222B36"/>
                </a:solidFill>
                <a:latin typeface="Aptos"/>
              </a:rPr>
              <a:t>• Phase 4 (</a:t>
            </a:r>
            <a:r>
              <a:rPr lang="en-US" sz="1600" spc="-1" dirty="0">
                <a:solidFill>
                  <a:srgbClr val="222B36"/>
                </a:solidFill>
                <a:latin typeface="Aptos"/>
              </a:rPr>
              <a:t>week</a:t>
            </a:r>
            <a:r>
              <a:rPr lang="en-US" sz="1600" b="0" strike="noStrike" spc="-1" dirty="0">
                <a:solidFill>
                  <a:srgbClr val="222B36"/>
                </a:solidFill>
                <a:latin typeface="Aptos"/>
              </a:rPr>
              <a:t> 4): Add Explainable AI - SHAP, LIME, Anchors, Counterfactual Explanations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 dirty="0">
                <a:solidFill>
                  <a:srgbClr val="222B36"/>
                </a:solidFill>
                <a:latin typeface="Aptos"/>
              </a:rPr>
              <a:t>• Phase 5 (</a:t>
            </a:r>
            <a:r>
              <a:rPr lang="en-US" sz="1600" spc="-1" dirty="0">
                <a:solidFill>
                  <a:srgbClr val="222B36"/>
                </a:solidFill>
                <a:latin typeface="Aptos"/>
              </a:rPr>
              <a:t>week</a:t>
            </a:r>
            <a:r>
              <a:rPr lang="en-US" sz="1600" b="0" strike="noStrike" spc="-1" dirty="0">
                <a:solidFill>
                  <a:srgbClr val="222B36"/>
                </a:solidFill>
                <a:latin typeface="Aptos"/>
              </a:rPr>
              <a:t> 5): Evaluate Explainability - Fidelity, Stability, Consistency, Runtime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 dirty="0">
                <a:solidFill>
                  <a:srgbClr val="222B36"/>
                </a:solidFill>
                <a:latin typeface="Aptos"/>
              </a:rPr>
              <a:t>• Phase 6 (</a:t>
            </a:r>
            <a:r>
              <a:rPr lang="en-US" sz="1600" spc="-1" dirty="0">
                <a:solidFill>
                  <a:srgbClr val="222B36"/>
                </a:solidFill>
                <a:latin typeface="Aptos"/>
              </a:rPr>
              <a:t>week</a:t>
            </a:r>
            <a:r>
              <a:rPr lang="en-US" sz="1600" b="0" strike="noStrike" spc="-1" dirty="0">
                <a:solidFill>
                  <a:srgbClr val="222B36"/>
                </a:solidFill>
                <a:latin typeface="Aptos"/>
              </a:rPr>
              <a:t> 6): Build Trust Evaluation Framework &amp; Compute Trust Scores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 dirty="0">
                <a:solidFill>
                  <a:srgbClr val="222B36"/>
                </a:solidFill>
                <a:latin typeface="Aptos"/>
              </a:rPr>
              <a:t>• Phase 7 (</a:t>
            </a:r>
            <a:r>
              <a:rPr lang="en-US" sz="1600" spc="-1" dirty="0">
                <a:solidFill>
                  <a:srgbClr val="222B36"/>
                </a:solidFill>
                <a:latin typeface="Aptos"/>
              </a:rPr>
              <a:t>week 7</a:t>
            </a:r>
            <a:r>
              <a:rPr lang="en-US" sz="1600" b="0" strike="noStrike" spc="-1" dirty="0">
                <a:solidFill>
                  <a:srgbClr val="222B36"/>
                </a:solidFill>
                <a:latin typeface="Aptos"/>
              </a:rPr>
              <a:t>): Compare all AI + XAI Combinations, Identify Best Overall Combination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 dirty="0">
                <a:solidFill>
                  <a:srgbClr val="222B36"/>
                </a:solidFill>
                <a:latin typeface="Aptos"/>
              </a:rPr>
              <a:t>• Phase 8 (</a:t>
            </a:r>
            <a:r>
              <a:rPr lang="en-US" sz="1600" spc="-1" dirty="0">
                <a:solidFill>
                  <a:srgbClr val="222B36"/>
                </a:solidFill>
                <a:latin typeface="Aptos"/>
              </a:rPr>
              <a:t>week 8</a:t>
            </a:r>
            <a:r>
              <a:rPr lang="en-US" sz="1600" b="0" strike="noStrike" spc="-1" dirty="0">
                <a:solidFill>
                  <a:srgbClr val="222B36"/>
                </a:solidFill>
                <a:latin typeface="Aptos"/>
              </a:rPr>
              <a:t>): Visualization - Performance, SHAP/LIME plots, Trust Score comparison graphs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 dirty="0">
                <a:solidFill>
                  <a:srgbClr val="222B36"/>
                </a:solidFill>
                <a:latin typeface="Aptos"/>
              </a:rPr>
              <a:t>• Phase 9 (</a:t>
            </a:r>
            <a:r>
              <a:rPr lang="en-US" sz="1600" spc="-1" dirty="0">
                <a:solidFill>
                  <a:srgbClr val="222B36"/>
                </a:solidFill>
                <a:latin typeface="Aptos"/>
              </a:rPr>
              <a:t>week 9</a:t>
            </a:r>
            <a:r>
              <a:rPr lang="en-US" sz="1600" b="0" strike="noStrike" spc="-1" dirty="0">
                <a:solidFill>
                  <a:srgbClr val="222B36"/>
                </a:solidFill>
                <a:latin typeface="Aptos"/>
              </a:rPr>
              <a:t>): Dashboard Development (optional real-time prediction interface)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 dirty="0">
                <a:solidFill>
                  <a:srgbClr val="222B36"/>
                </a:solidFill>
                <a:latin typeface="Aptos"/>
              </a:rPr>
              <a:t>• Phase 10 (</a:t>
            </a:r>
            <a:r>
              <a:rPr lang="en-US" sz="1600" spc="-1" dirty="0">
                <a:solidFill>
                  <a:srgbClr val="222B36"/>
                </a:solidFill>
                <a:latin typeface="Aptos"/>
              </a:rPr>
              <a:t>week 10</a:t>
            </a:r>
            <a:r>
              <a:rPr lang="en-US" sz="1600" b="0" strike="noStrike" spc="-1" dirty="0">
                <a:solidFill>
                  <a:srgbClr val="222B36"/>
                </a:solidFill>
                <a:latin typeface="Aptos"/>
              </a:rPr>
              <a:t>): IEEE Paper Writing &amp; Final Submission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Rectangle 5"/>
          <p:cNvSpPr/>
          <p:nvPr/>
        </p:nvSpPr>
        <p:spPr>
          <a:xfrm>
            <a:off x="0" y="228600"/>
            <a:ext cx="9144000" cy="304920"/>
          </a:xfrm>
          <a:prstGeom prst="rect">
            <a:avLst/>
          </a:prstGeom>
          <a:gradFill rotWithShape="0">
            <a:gsLst>
              <a:gs pos="0">
                <a:srgbClr val="0099FF"/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0099FF"/>
          </a:solidFill>
          <a:ln w="9360">
            <a:solidFill>
              <a:srgbClr val="00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i="1" strike="noStrike" spc="-1">
                <a:solidFill>
                  <a:srgbClr val="000099"/>
                </a:solidFill>
                <a:latin typeface="Arial"/>
              </a:rPr>
              <a:t> Department of  CSE (Cyber Security)		               		   First Review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i="1" strike="noStrike" spc="-1">
                <a:solidFill>
                  <a:srgbClr val="000099"/>
                </a:solidFill>
                <a:latin typeface="Arial"/>
              </a:rPr>
              <a:t> SRM Madurai College for Engg &amp; Tech                                                 Date:27.08.2026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Picture 8"/>
          <p:cNvPicPr/>
          <p:nvPr/>
        </p:nvPicPr>
        <p:blipFill>
          <a:blip r:embed="rId2"/>
          <a:stretch/>
        </p:blipFill>
        <p:spPr>
          <a:xfrm>
            <a:off x="0" y="0"/>
            <a:ext cx="981000" cy="1219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8305920" cy="106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1" strike="noStrike" spc="-1">
                <a:solidFill>
                  <a:srgbClr val="FF0000"/>
                </a:solidFill>
                <a:latin typeface="Arial"/>
              </a:rPr>
              <a:t>Expected Outcomes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Rectangle 4"/>
          <p:cNvSpPr/>
          <p:nvPr/>
        </p:nvSpPr>
        <p:spPr>
          <a:xfrm>
            <a:off x="228600" y="1905120"/>
            <a:ext cx="8610480" cy="40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rmAutofit lnSpcReduction="10000"/>
          </a:bodyPr>
          <a:lstStyle/>
          <a:p>
            <a:pPr algn="just"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b="1" strike="noStrike" spc="-1" dirty="0">
                <a:solidFill>
                  <a:srgbClr val="0000FF"/>
                </a:solidFill>
                <a:latin typeface="Arial"/>
              </a:rPr>
              <a:t>A </a:t>
            </a:r>
            <a:r>
              <a:rPr lang="en-US" b="1" strike="noStrike" spc="-1" dirty="0" err="1">
                <a:solidFill>
                  <a:srgbClr val="0000FF"/>
                </a:solidFill>
                <a:latin typeface="Arial"/>
              </a:rPr>
              <a:t>TrustXAI</a:t>
            </a:r>
            <a:r>
              <a:rPr lang="en-US" b="1" strike="noStrike" spc="-1" dirty="0">
                <a:solidFill>
                  <a:srgbClr val="0000FF"/>
                </a:solidFill>
                <a:latin typeface="Arial"/>
              </a:rPr>
              <a:t> framework that evaluates multiple AI-based IDS models together with their explanations, instead of just detecting attacks.</a:t>
            </a:r>
            <a:endParaRPr lang="en-US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strike="noStrike" spc="-1" dirty="0">
                <a:solidFill>
                  <a:srgbClr val="0000FF"/>
                </a:solidFill>
                <a:latin typeface="Arial"/>
              </a:rPr>
              <a:t>Improved trust over existing IDS work: models compared on explainability, robustness, stability and runtime, not accuracy alone.</a:t>
            </a:r>
            <a:endParaRPr lang="en-US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strike="noStrike" spc="-1" dirty="0">
                <a:solidFill>
                  <a:srgbClr val="0000FF"/>
                </a:solidFill>
                <a:latin typeface="Arial"/>
              </a:rPr>
              <a:t>Key modules: multi-model detection engine, SHAP/LIME/Anchors/Counterfactual explanation layer, explanation-quality evaluator, and Trust Score calculator.</a:t>
            </a:r>
            <a:endParaRPr lang="en-US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strike="noStrike" spc="-1" dirty="0">
                <a:solidFill>
                  <a:srgbClr val="0000FF"/>
                </a:solidFill>
                <a:latin typeface="Arial"/>
              </a:rPr>
              <a:t>A ranked comparison table of AI + XAI combinations with a measurable Trust Score, plus an optional dashboard </a:t>
            </a:r>
            <a:r>
              <a:rPr lang="en-GB" sz="1900" b="1" strike="noStrike" spc="-1" dirty="0">
                <a:solidFill>
                  <a:srgbClr val="0000FF"/>
                </a:solidFill>
                <a:latin typeface="Arial"/>
              </a:rPr>
              <a:t>showing prediction, explanation and trust score in real time.</a:t>
            </a:r>
            <a:endParaRPr lang="en-US" sz="19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900" b="1" strike="noStrike" spc="-1" dirty="0">
                <a:solidFill>
                  <a:srgbClr val="0000FF"/>
                </a:solidFill>
                <a:latin typeface="Arial"/>
              </a:rPr>
              <a:t>Helps security organizations choose the most reliable AI + XAI combination for their deployment scenario, improving analyst trust and adoption of AI-based IDS in practice.</a:t>
            </a:r>
            <a:r>
              <a:rPr lang="en-US" sz="1900" b="1" strike="noStrike" spc="-1" dirty="0">
                <a:solidFill>
                  <a:srgbClr val="0000FF"/>
                </a:solidFill>
                <a:latin typeface="Arial"/>
              </a:rPr>
              <a:t> </a:t>
            </a:r>
            <a:endParaRPr lang="en-US" sz="1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Rectangle 5"/>
          <p:cNvSpPr/>
          <p:nvPr/>
        </p:nvSpPr>
        <p:spPr>
          <a:xfrm>
            <a:off x="0" y="228600"/>
            <a:ext cx="9144000" cy="304920"/>
          </a:xfrm>
          <a:prstGeom prst="rect">
            <a:avLst/>
          </a:prstGeom>
          <a:gradFill rotWithShape="0">
            <a:gsLst>
              <a:gs pos="0">
                <a:srgbClr val="0099FF"/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0099FF"/>
          </a:solidFill>
          <a:ln w="9360">
            <a:solidFill>
              <a:srgbClr val="00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i="1" strike="noStrike" spc="-1">
                <a:solidFill>
                  <a:srgbClr val="000099"/>
                </a:solidFill>
                <a:latin typeface="Arial"/>
              </a:rPr>
              <a:t> Department of  CSE (Cyber Security)		               		   First Review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i="1" strike="noStrike" spc="-1">
                <a:solidFill>
                  <a:srgbClr val="000099"/>
                </a:solidFill>
                <a:latin typeface="Arial"/>
              </a:rPr>
              <a:t> SRM Madurai College for Engg &amp; Tech                                                 Date:27.08.2026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Picture 8"/>
          <p:cNvPicPr/>
          <p:nvPr/>
        </p:nvPicPr>
        <p:blipFill>
          <a:blip r:embed="rId2"/>
          <a:stretch/>
        </p:blipFill>
        <p:spPr>
          <a:xfrm>
            <a:off x="0" y="0"/>
            <a:ext cx="981000" cy="1219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40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1" strike="noStrike" spc="-1">
                <a:solidFill>
                  <a:srgbClr val="FF0000"/>
                </a:solidFill>
                <a:latin typeface="Arial"/>
              </a:rPr>
              <a:t>References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Rectangle 4"/>
          <p:cNvSpPr/>
          <p:nvPr/>
        </p:nvSpPr>
        <p:spPr>
          <a:xfrm>
            <a:off x="457200" y="1905120"/>
            <a:ext cx="8381880" cy="40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rmAutofit fontScale="85000" lnSpcReduction="10000"/>
          </a:bodyPr>
          <a:lstStyle/>
          <a:p>
            <a:pPr>
              <a:lnSpc>
                <a:spcPct val="100000"/>
              </a:lnSpc>
              <a:spcBef>
                <a:spcPts val="80"/>
              </a:spcBef>
              <a:spcAft>
                <a:spcPts val="8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[1] S. Neupane et al., "Explainable Intrusion Detection Systems (X-IDS): A Survey," IEEE Access, vol. 10, pp. 112392-112415, 2022.</a:t>
            </a:r>
          </a:p>
          <a:p>
            <a:pPr>
              <a:lnSpc>
                <a:spcPct val="100000"/>
              </a:lnSpc>
              <a:spcBef>
                <a:spcPts val="80"/>
              </a:spcBef>
              <a:spcAft>
                <a:spcPts val="8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[2] N. Capuano, G.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Arial"/>
              </a:rPr>
              <a:t>Fenza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, V. Loia, C. Stanzione, "Explainable AI in Cybersecurity: A Survey," IEEE Access, vol. 10, pp. 93575-93600, 2022.</a:t>
            </a:r>
          </a:p>
          <a:p>
            <a:pPr>
              <a:lnSpc>
                <a:spcPct val="100000"/>
              </a:lnSpc>
              <a:spcBef>
                <a:spcPts val="80"/>
              </a:spcBef>
              <a:spcAft>
                <a:spcPts val="8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[3] D. Gaspar, P. Silva, C. Silva, "XAI for IDS: LIME and SHAP Applicability on MLP," IEEE Access, vol. 12, pp. 30164-30175, 2024.</a:t>
            </a:r>
          </a:p>
          <a:p>
            <a:pPr>
              <a:lnSpc>
                <a:spcPct val="100000"/>
              </a:lnSpc>
              <a:spcBef>
                <a:spcPts val="80"/>
              </a:spcBef>
              <a:spcAft>
                <a:spcPts val="8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[4] O.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Arial"/>
              </a:rPr>
              <a:t>Arreche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 et al., "E-XAI: Evaluating Black-box XAI Frameworks for Network IDS," IEEE Access, vol. 12, pp. 23954-23988, 2024.</a:t>
            </a:r>
          </a:p>
          <a:p>
            <a:pPr>
              <a:lnSpc>
                <a:spcPct val="100000"/>
              </a:lnSpc>
              <a:spcBef>
                <a:spcPts val="80"/>
              </a:spcBef>
              <a:spcAft>
                <a:spcPts val="8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[5] T.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Arial"/>
              </a:rPr>
              <a:t>Zebin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, S.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Arial"/>
              </a:rPr>
              <a:t>Rezvy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, Y. Luo, "Explainable AI-Based IDS for DNS Over HTTPS Attacks," IEEE Trans. Inf. Forensics Security, vol. 17, pp. 2339-2349, 2022.</a:t>
            </a:r>
          </a:p>
          <a:p>
            <a:pPr>
              <a:lnSpc>
                <a:spcPct val="100000"/>
              </a:lnSpc>
              <a:spcBef>
                <a:spcPts val="80"/>
              </a:spcBef>
              <a:spcAft>
                <a:spcPts val="8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[6] T.-T.-H. Le et al., "Enhanced Attack Detection and Explanation in IDS-Based IoT Environment," IEEE Access, vol. 11, pp. 131661-131676, 2023.</a:t>
            </a:r>
          </a:p>
          <a:p>
            <a:pPr>
              <a:lnSpc>
                <a:spcPct val="100000"/>
              </a:lnSpc>
              <a:spcBef>
                <a:spcPts val="80"/>
              </a:spcBef>
              <a:spcAft>
                <a:spcPts val="8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[7] N. Kostopoulos et al., "SHAP Interpretations of Tree and NN DNS Classifiers for DGA Analysis," IEEE Access, vol. 11, pp. 61144-61160, 2023.</a:t>
            </a:r>
          </a:p>
          <a:p>
            <a:pPr>
              <a:lnSpc>
                <a:spcPct val="100000"/>
              </a:lnSpc>
              <a:spcBef>
                <a:spcPts val="80"/>
              </a:spcBef>
              <a:spcAft>
                <a:spcPts val="8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[8] M. M.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Arial"/>
              </a:rPr>
              <a:t>Shtayat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 et al., "Explainable Ensemble Deep Learning for IDS in Industrial IoT," IEEE Access, vol. 11, pp. 115047-115061, 2023.</a:t>
            </a:r>
          </a:p>
          <a:p>
            <a:pPr>
              <a:lnSpc>
                <a:spcPct val="100000"/>
              </a:lnSpc>
              <a:spcBef>
                <a:spcPts val="80"/>
              </a:spcBef>
              <a:spcAft>
                <a:spcPts val="8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[9] S. Sivamohan, S. Sridhar, S. Krishnaveni, "TEA-EKHO-IDS: Trustworthy XAI IDS for Industrial CPS," Peer-to-Peer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Arial"/>
              </a:rPr>
              <a:t>Netw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. Appl., vol. 16, no. 4, pp. 1993-2021, 2023.</a:t>
            </a:r>
          </a:p>
          <a:p>
            <a:pPr>
              <a:lnSpc>
                <a:spcPct val="100000"/>
              </a:lnSpc>
              <a:spcBef>
                <a:spcPts val="80"/>
              </a:spcBef>
              <a:spcAft>
                <a:spcPts val="8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[10] M.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Arial"/>
              </a:rPr>
              <a:t>Zolanvari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 et al., "TRUST XAI: Model-Agnostic Explanations with a Case Study on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Arial"/>
              </a:rPr>
              <a:t>IIoT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 Security," IEEE Internet of Things J., 2021.</a:t>
            </a:r>
          </a:p>
          <a:p>
            <a:pPr>
              <a:lnSpc>
                <a:spcPct val="100000"/>
              </a:lnSpc>
              <a:spcBef>
                <a:spcPts val="80"/>
              </a:spcBef>
              <a:spcAft>
                <a:spcPts val="8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[11] T.-T.-H. Le, H. Kim, H. Kang, H. Kim, "Classification and Explanation for IDS Using Ensemble Trees and SHAP," Sensors, vol. 22, no. 3, p. 1154, 2022.</a:t>
            </a:r>
          </a:p>
          <a:p>
            <a:pPr>
              <a:lnSpc>
                <a:spcPct val="100000"/>
              </a:lnSpc>
              <a:spcBef>
                <a:spcPts val="80"/>
              </a:spcBef>
              <a:spcAft>
                <a:spcPts val="8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[12] N. Moustafa et al., "Explainable Intrusion Detection for Cyber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Arial"/>
              </a:rPr>
              <a:t>Defences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 in the IoT," IEEE Commun. Surveys Tuts., vol. 25, no. 3, pp. 1775-1807, 2023.</a:t>
            </a:r>
          </a:p>
          <a:p>
            <a:pPr>
              <a:lnSpc>
                <a:spcPct val="100000"/>
              </a:lnSpc>
              <a:spcBef>
                <a:spcPts val="80"/>
              </a:spcBef>
              <a:spcAft>
                <a:spcPts val="8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[13] S. B. Mallampati, H. Seetha, "Enhancing IDS with Explainable AI: A Transparent Approach,"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Arial"/>
              </a:rPr>
              <a:t>Cybern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. Inf. Technol., vol. 24, pp. 98-117, 2024.</a:t>
            </a:r>
          </a:p>
          <a:p>
            <a:pPr>
              <a:lnSpc>
                <a:spcPct val="100000"/>
              </a:lnSpc>
              <a:spcBef>
                <a:spcPts val="80"/>
              </a:spcBef>
              <a:spcAft>
                <a:spcPts val="8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[14] V. Z. Mohale, I. C.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Arial"/>
              </a:rPr>
              <a:t>Obagbuwa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, "Systematic Review on XAI Integration in IDS," Frontiers in AI, vol. 8, art. 1526221, 2025.</a:t>
            </a:r>
          </a:p>
          <a:p>
            <a:pPr>
              <a:lnSpc>
                <a:spcPct val="100000"/>
              </a:lnSpc>
              <a:spcBef>
                <a:spcPts val="80"/>
              </a:spcBef>
              <a:spcAft>
                <a:spcPts val="8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[15] M. M. Alani, A. I. Awad, "PAIRED: An Explainable Lightweight Android Malware Detection System," IEEE Access, vol. 10, pp. 73214-73228, 2022.</a:t>
            </a:r>
          </a:p>
          <a:p>
            <a:pPr>
              <a:lnSpc>
                <a:spcPct val="100000"/>
              </a:lnSpc>
              <a:spcBef>
                <a:spcPts val="80"/>
              </a:spcBef>
              <a:spcAft>
                <a:spcPts val="8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[16] "Trustworthy In-Vehicle IDS Using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Arial"/>
              </a:rPr>
              <a:t>eXplainable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 AI (XAI)," IEEE Access, 2022.</a:t>
            </a:r>
          </a:p>
          <a:p>
            <a:pPr>
              <a:lnSpc>
                <a:spcPct val="100000"/>
              </a:lnSpc>
              <a:spcBef>
                <a:spcPts val="80"/>
              </a:spcBef>
              <a:spcAft>
                <a:spcPts val="8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[17] CICIDS2017/2018 Dataset, Canadian Institute for Cybersecurity, UNB. https://www.unb.ca/cic/datasets/</a:t>
            </a:r>
          </a:p>
          <a:p>
            <a:pPr>
              <a:lnSpc>
                <a:spcPct val="100000"/>
              </a:lnSpc>
              <a:spcBef>
                <a:spcPts val="80"/>
              </a:spcBef>
              <a:spcAft>
                <a:spcPts val="8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[18] UNSW-NB15 Dataset, ACCS, UNSW Canberra. https://research.unsw.edu.au/projects/unsw-nb15-dataset</a:t>
            </a:r>
          </a:p>
          <a:p>
            <a:pPr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601"/>
              </a:spcBef>
              <a:buClr>
                <a:srgbClr val="0000FF"/>
              </a:buClr>
              <a:buFont typeface="Wingdings" charset="2"/>
              <a:buChar char="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6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Rectangle 5"/>
          <p:cNvSpPr/>
          <p:nvPr/>
        </p:nvSpPr>
        <p:spPr>
          <a:xfrm>
            <a:off x="0" y="228600"/>
            <a:ext cx="9144000" cy="304920"/>
          </a:xfrm>
          <a:prstGeom prst="rect">
            <a:avLst/>
          </a:prstGeom>
          <a:gradFill rotWithShape="0">
            <a:gsLst>
              <a:gs pos="0">
                <a:srgbClr val="0099FF"/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Box 7"/>
          <p:cNvSpPr/>
          <p:nvPr/>
        </p:nvSpPr>
        <p:spPr>
          <a:xfrm>
            <a:off x="0" y="914400"/>
            <a:ext cx="838080" cy="23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56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900" b="0" strike="noStrike" spc="-1">
                <a:solidFill>
                  <a:srgbClr val="000000"/>
                </a:solidFill>
                <a:latin typeface="Arial"/>
              </a:rPr>
              <a:t> </a:t>
            </a:r>
          </a:p>
        </p:txBody>
      </p:sp>
      <p:sp>
        <p:nvSpPr>
          <p:cNvPr id="84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0099FF"/>
          </a:solidFill>
          <a:ln w="9360">
            <a:solidFill>
              <a:srgbClr val="00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i="1" strike="noStrike" spc="-1">
                <a:solidFill>
                  <a:srgbClr val="000099"/>
                </a:solidFill>
                <a:latin typeface="Arial"/>
              </a:rPr>
              <a:t> Department of  CSE (Cyber Security)		               		   First Review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i="1" strike="noStrike" spc="-1">
                <a:solidFill>
                  <a:srgbClr val="000099"/>
                </a:solidFill>
                <a:latin typeface="Arial"/>
              </a:rPr>
              <a:t> SRM Madurai College for Engg &amp; Tech                                                 Date:27.08.2026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Picture 8"/>
          <p:cNvPicPr/>
          <p:nvPr/>
        </p:nvPicPr>
        <p:blipFill>
          <a:blip r:embed="rId2"/>
          <a:stretch/>
        </p:blipFill>
        <p:spPr>
          <a:xfrm>
            <a:off x="0" y="0"/>
            <a:ext cx="981000" cy="1219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5"/>
          <p:cNvSpPr/>
          <p:nvPr/>
        </p:nvSpPr>
        <p:spPr>
          <a:xfrm>
            <a:off x="0" y="228600"/>
            <a:ext cx="9144000" cy="304920"/>
          </a:xfrm>
          <a:prstGeom prst="rect">
            <a:avLst/>
          </a:prstGeom>
          <a:gradFill rotWithShape="0">
            <a:gsLst>
              <a:gs pos="0">
                <a:srgbClr val="0099FF"/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1" strike="noStrike" spc="-1">
                <a:solidFill>
                  <a:srgbClr val="FF0000"/>
                </a:solidFill>
                <a:latin typeface="Arial"/>
              </a:rPr>
              <a:t>Thank You!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0099FF"/>
          </a:solidFill>
          <a:ln w="9360">
            <a:solidFill>
              <a:srgbClr val="00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i="1" strike="noStrike" spc="-1">
                <a:solidFill>
                  <a:srgbClr val="000099"/>
                </a:solidFill>
                <a:latin typeface="Arial"/>
              </a:rPr>
              <a:t> Department of  CSE (Cyber Security)		               		   First Review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i="1" strike="noStrike" spc="-1">
                <a:solidFill>
                  <a:srgbClr val="000099"/>
                </a:solidFill>
                <a:latin typeface="Arial"/>
              </a:rPr>
              <a:t> SRM Madurai College for Engg &amp; Tech                                                 Date:27.08.2026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466</TotalTime>
  <Words>2239</Words>
  <Application>Microsoft Office PowerPoint</Application>
  <PresentationFormat>On-screen Show (4:3)</PresentationFormat>
  <Paragraphs>183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Wingdings</vt:lpstr>
      <vt:lpstr>Office</vt:lpstr>
      <vt:lpstr>Academic Year 2026-2027  Project Batch No. 09 TrustXAI: A Comprehensive Framework for Trustworthy Explainable Artificial Intelligence in Cyber Threat Detection  </vt:lpstr>
      <vt:lpstr>Contents  </vt:lpstr>
      <vt:lpstr>Introduction  </vt:lpstr>
      <vt:lpstr>Problem Statement   </vt:lpstr>
      <vt:lpstr>Objectives </vt:lpstr>
      <vt:lpstr>Literature Review </vt:lpstr>
      <vt:lpstr>Research / Technical Gap</vt:lpstr>
      <vt:lpstr>Proposed Methodology/   Approach </vt:lpstr>
      <vt:lpstr>Hardware and Software Requirements</vt:lpstr>
      <vt:lpstr>Time line / Gantt Chart</vt:lpstr>
      <vt:lpstr>Expected Outcomes</vt:lpstr>
      <vt:lpstr>References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GOOGLE. PLAYSTORE.</cp:lastModifiedBy>
  <cp:revision>3</cp:revision>
  <dcterms:modified xsi:type="dcterms:W3CDTF">2026-08-27T04:00:33Z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2009-01-22T06:27:40Z</dcterms:created>
  <dc:creator>SIT</dc:creator>
  <dc:description/>
  <dc:language>en-US</dc:language>
  <cp:lastModifiedBy>GOOGLE. PLAYSTORE.</cp:lastModifiedBy>
  <dcterms:modified xsi:type="dcterms:W3CDTF">2026-08-27T03:32:14Z</dcterms:modified>
  <cp:revision>80</cp:revision>
  <dc:subject/>
  <dc:title>Project Title:</dc:title>
</cp:coreProperties>
</file>
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41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team. This is the Phase-I first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preview the ten required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cyber threats, AI-based IDS and the black-box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problem precisely and emphasize that this is a research investigation, not a completed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seven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base paper. It is IEEE Access 2024, by Gaspar, Silva and Silva. The paper uses MLP with LIME and SHAP and validates explanations through perturbation analysis and a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 literature themes motivate the proposed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literature table. Faculty may ask which paper is the base paper: it is Gaspar et al., IEEE Access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Spend time here. The intended gap is systematic comparison across model + XAI + trust-related evaluation dimensions. Do not claim absolute novelty until the full literature survey is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pipeline. Explain that all candidate models and XAI methods are subject to feasibility and literature-based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hardware and software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schedule is proposed and may be refined after Phase-I.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Expected outcomes are future deliverables, not completed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References include the base paper and foundational XAI/IDS literature. Verify any metadata before final institutional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6E78"/>
                </a:solidFill>
                <a:latin typeface="Aptos"/>
              </a:defRPr>
            </a:pPr>
            <a:r>
              <a:t>Project Title: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91F37"/>
                </a:solidFill>
                <a:latin typeface="Aptos"/>
              </a:defRPr>
            </a:pPr>
            <a:r>
              <a:t>TRUSTXAI: A Comprehensive Framework for Trustworthy</a:t>
            </a:r>
            <a:br/>
            <a:r>
              <a:t>Explainable Artificial Intelligence in Cyber Threat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9CCF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2B36"/>
                </a:solidFill>
                <a:latin typeface="Aptos"/>
              </a:defRPr>
            </a:pPr>
            <a:r>
              <a:t>Gokul Vijay R (911123149012)  |  Prasath G (911123149033)  |  Sayee Naveen J S (911123149042)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2B36"/>
                </a:solidFill>
                <a:latin typeface="Aptos"/>
              </a:defRPr>
            </a:pPr>
            <a:r>
              <a:t>Guided by: Mr. S. Karuppasamy Pandian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6E78"/>
                </a:solidFill>
                <a:latin typeface="Aptos"/>
              </a:defRPr>
            </a:pPr>
            <a:r>
              <a:t>Department of CSE (Cyber Security)  |  Academic Year 2026-2027  |  Project Batch No.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5BA5"/>
                </a:solidFill>
                <a:latin typeface="Aptos"/>
              </a:defRPr>
            </a:pPr>
            <a:r>
              <a:t>First Review  |  Date: 27.08.2026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2161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9339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19751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523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7340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1129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4930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024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251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Research / Technical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23444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12161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Proposed Methodology /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9339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19751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Hardware / Software 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523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7340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Time line / Gantt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51129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4930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27024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9C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4251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91F37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• Cyber threats increasingly require automated and adaptive monitoring mechanisms.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• Machine Learning (ML)-based Intrusion Detection Systems (IDS) can identify complex patterns in network traffic.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• High-performing ML models can become difficult for humans to interpret, creating a black-box problem.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• Explainable AI (XAI) methods such as LIME and SHAP can expose factors behind individual predictions.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• TrustXAI investigates detection performance together with explainability, robustness, stability and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3063240" cy="960120"/>
          </a:xfrm>
          <a:prstGeom prst="roundRect">
            <a:avLst/>
          </a:prstGeom>
          <a:solidFill>
            <a:srgbClr val="EFF4F9"/>
          </a:solidFill>
          <a:ln>
            <a:solidFill>
              <a:srgbClr val="19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4498848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95BA5"/>
                </a:solidFill>
                <a:latin typeface="Aptos"/>
              </a:defRPr>
            </a:pPr>
            <a:r>
              <a:t>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846320"/>
            <a:ext cx="27706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B36"/>
                </a:solidFill>
                <a:latin typeface="Aptos"/>
              </a:defRPr>
            </a:pPr>
            <a:r>
              <a:t>Detect suspicious or malicious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389120"/>
            <a:ext cx="3063240" cy="960120"/>
          </a:xfrm>
          <a:prstGeom prst="roundRect">
            <a:avLst/>
          </a:prstGeom>
          <a:solidFill>
            <a:srgbClr val="EFF4F9"/>
          </a:solidFill>
          <a:ln>
            <a:solidFill>
              <a:srgbClr val="34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4" y="4498848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349168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4846320"/>
            <a:ext cx="27706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B36"/>
                </a:solidFill>
                <a:latin typeface="Aptos"/>
              </a:defRPr>
            </a:pPr>
            <a:r>
              <a:t>Learn patterns and classify traffic.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389120"/>
            <a:ext cx="3063240" cy="960120"/>
          </a:xfrm>
          <a:prstGeom prst="roundRect">
            <a:avLst/>
          </a:prstGeom>
          <a:solidFill>
            <a:srgbClr val="EFF4F9"/>
          </a:solidFill>
          <a:ln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4498848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59CCF"/>
                </a:solidFill>
                <a:latin typeface="Aptos"/>
              </a:defRPr>
            </a:pPr>
            <a:r>
              <a:t>XAI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4846320"/>
            <a:ext cx="27706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B36"/>
                </a:solidFill>
                <a:latin typeface="Aptos"/>
              </a:defRPr>
            </a:pPr>
            <a:r>
              <a:t>Explain model decisions to analysts.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5349240" cy="4297680"/>
          </a:xfrm>
          <a:prstGeom prst="roundRect">
            <a:avLst/>
          </a:prstGeom>
          <a:solidFill>
            <a:srgbClr val="EFF4F9"/>
          </a:solidFill>
          <a:ln>
            <a:solidFill>
              <a:srgbClr val="19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435607"/>
            <a:ext cx="505663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95BA5"/>
                </a:solidFill>
                <a:latin typeface="Aptos"/>
              </a:defRPr>
            </a:pPr>
            <a:r>
              <a:rPr lang="en-US" dirty="0"/>
              <a:t>	</a:t>
            </a:r>
            <a:r>
              <a:rPr dirty="0"/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783080"/>
            <a:ext cx="5056631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B36"/>
                </a:solidFill>
                <a:latin typeface="Aptos"/>
              </a:defRPr>
            </a:pPr>
            <a:r>
              <a:t>AI-based IDS can provide strong classification performance, but a prediction alone may not explain why traffic was classified as an attack. In security operations, opaque or unstable explanations can reduce analyst confidence and limit practical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349240" cy="4297680"/>
          </a:xfrm>
          <a:prstGeom prst="roundRect">
            <a:avLst/>
          </a:prstGeom>
          <a:solidFill>
            <a:srgbClr val="EFF4F9"/>
          </a:solidFill>
          <a:ln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1435607"/>
            <a:ext cx="505663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59CCF"/>
                </a:solidFill>
                <a:latin typeface="Aptos"/>
              </a:defRPr>
            </a:pPr>
            <a:r>
              <a:rPr lang="en-US" dirty="0"/>
              <a:t>	</a:t>
            </a:r>
            <a:r>
              <a:rPr dirty="0"/>
              <a:t>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1783080"/>
            <a:ext cx="5056631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B36"/>
                </a:solidFill>
                <a:latin typeface="Aptos"/>
              </a:defRPr>
            </a:pPr>
            <a:r>
              <a:t>A systematic evaluation is needed to compare selected AI + XAI combinations across predictive performance, explanation quality, robustness, stability, runtime and resource usage, while considering different cybersecurity scenarios.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91F37"/>
                </a:solidFill>
                <a:latin typeface="Aptos"/>
              </a:defRPr>
            </a:pPr>
            <a:r>
              <a:t>Research Question: Which AI + XAI combination provides the most suitable balance of detection, explanation and trust-related properties?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Develop a common evaluation framework for selected AI-based IDS models.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Compare selected ML models using suitable cybersecurity datasets.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Apply selected XAI methods to generate local and global explanations.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Evaluate explanation quality using fidelity, stability, consistency and runtime where applicable.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Evaluate robustness, computational efficiency and resource usage alongside standard detection metrics.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Compare AI + XAI combinations using multiple evidence dimensions rather than accuracy alone.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Recommend suitable combinations for different cybersecurity deployment scenarios.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Literature Review • Base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256032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24358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S.No.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170432"/>
            <a:ext cx="306324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1243584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 Title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170432"/>
            <a:ext cx="2487168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13632" y="124358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170432"/>
            <a:ext cx="54864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243584"/>
            <a:ext cx="493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1170432"/>
            <a:ext cx="1572768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1243584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Methodology / Algorithm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170432"/>
            <a:ext cx="132588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9952" y="1243584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Result /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170432"/>
            <a:ext cx="160020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1243584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1609344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1664208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1609344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1664208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Explainable AI for Intrusion Detection Systems: LIME and SHAP Applicability on Multi-Layer Perceptron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1609344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22776" y="1664208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IEEE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1609344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1664208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1609344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95744" y="1664208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MLP; LIME; SHAP; perturbation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1609344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69096" y="1664208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IoT IDS explanations; LIME/SHAP comparison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1609344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86415" y="1664208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Focused on MLP and two XAI methods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450592"/>
            <a:ext cx="25603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" y="2505456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2450592"/>
            <a:ext cx="3063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" y="2505456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Why Should I Trust You? Explaining the Predictions of Any Classifier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2450592"/>
            <a:ext cx="24871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22776" y="2505456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KDD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2450592"/>
            <a:ext cx="548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83096" y="2505456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2450592"/>
            <a:ext cx="15727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95744" y="2505456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LIME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2450592"/>
            <a:ext cx="13258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69096" y="2505456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Local model-agnostic explanations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2450592"/>
            <a:ext cx="16002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86415" y="2505456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General ML; not IDS-specific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291840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" y="3346704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3291840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8" y="3346704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A Unified Approach to Interpreting Model Predictions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6200" y="3291840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22776" y="3346704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NeurIPS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46520" y="3291840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83096" y="3346704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291840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95744" y="3346704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SHAP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32520" y="3291840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69096" y="3346704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Unified feature-attribution framework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291840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86415" y="3346704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General ML; not IDS-specific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133088"/>
            <a:ext cx="25603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8056" y="4187952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" y="4133088"/>
            <a:ext cx="3063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9808" y="4187952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Explainable Artificial Intelligence (XAI): Concepts, Taxonomies, Opportunities and Challenges toward Responsible AI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86200" y="4133088"/>
            <a:ext cx="24871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922776" y="4187952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Information Fusion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46520" y="4133088"/>
            <a:ext cx="548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83096" y="4187952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9168" y="4133088"/>
            <a:ext cx="15727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95744" y="4187952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XAI survey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32520" y="4133088"/>
            <a:ext cx="13258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69096" y="4187952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Taxonomy and challenges of XAI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4133088"/>
            <a:ext cx="16002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86415" y="4187952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Broad survey; not IDS-specific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4974336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8056" y="5029200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3232" y="4974336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9808" y="5029200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A Survey of Methods for Explaining Black Box Models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86200" y="4974336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22776" y="5029200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ACM Computing Surveys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46520" y="4974336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83096" y="5029200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9168" y="4974336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95744" y="5029200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XAI survey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32520" y="4974336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69096" y="5029200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Taxonomy of black-box explanation methods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49840" y="4974336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186415" y="5029200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General XAI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Literature Review • Studies 6–10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256032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24358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S.No.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170432"/>
            <a:ext cx="306324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1243584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 Title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170432"/>
            <a:ext cx="2487168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13632" y="124358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170432"/>
            <a:ext cx="54864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243584"/>
            <a:ext cx="493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1170432"/>
            <a:ext cx="1572768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1243584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Methodology / Algorithm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170432"/>
            <a:ext cx="132588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9952" y="1243584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Result /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170432"/>
            <a:ext cx="160020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1243584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1609344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1664208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1609344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1664208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Interpretable Machine Learning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1609344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22776" y="1664208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Book / online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1609344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1664208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2022+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1609344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95744" y="1664208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Interpretability methods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1609344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69096" y="1664208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Reference for model interpretation concepts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1609344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86415" y="1664208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Not a peer-reviewed IDS experiment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450592"/>
            <a:ext cx="25603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" y="2505456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2450592"/>
            <a:ext cx="3063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" y="2505456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A Survey of Network-based Intrusion Detection Data Sets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2450592"/>
            <a:ext cx="24871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22776" y="2505456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Computers &amp;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2450592"/>
            <a:ext cx="548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83096" y="2505456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2450592"/>
            <a:ext cx="15727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95744" y="2505456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IDS datasets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2450592"/>
            <a:ext cx="13258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69096" y="2505456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Survey of network IDS datasets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2450592"/>
            <a:ext cx="16002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86415" y="2505456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Dataset-focused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291840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" y="3346704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3291840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8" y="3346704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UNSW-NB15: a comprehensive data set for network intrusion detection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6200" y="3291840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22776" y="3346704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MilCIS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46520" y="3291840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83096" y="3346704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291840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95744" y="3346704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UNSW-NB15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32520" y="3291840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69096" y="3346704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Modern IDS benchmark dataset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291840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86415" y="3346704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Older dataset paper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133088"/>
            <a:ext cx="25603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8056" y="4187952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" y="4133088"/>
            <a:ext cx="3063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9808" y="4187952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Toward Generating a New Intrusion Detection Dataset and Intrusion Traffic Characterization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86200" y="4133088"/>
            <a:ext cx="24871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922776" y="4187952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ICISSP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46520" y="4133088"/>
            <a:ext cx="548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83096" y="4187952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9168" y="4133088"/>
            <a:ext cx="15727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95744" y="4187952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CICIDS2017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32520" y="4133088"/>
            <a:ext cx="13258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69096" y="4187952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Dataset and attack characterization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4133088"/>
            <a:ext cx="16002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86415" y="4187952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Dataset-focused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4974336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8056" y="5029200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3232" y="4974336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9808" y="5029200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Deep Learning for Cyber Security Intrusion Detection: Approaches, Datasets, and Comparative Study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86200" y="4974336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22776" y="5029200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Journal / survey literature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46520" y="4974336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83096" y="5029200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9168" y="4974336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95744" y="5029200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Deep learning; IDS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32520" y="4974336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69096" y="5029200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Comparative IDS literature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49840" y="4974336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186415" y="5029200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Deep-learning focused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Literature Review • Studies 11–15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256032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24358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S.No.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170432"/>
            <a:ext cx="306324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1243584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 Title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170432"/>
            <a:ext cx="2487168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13632" y="124358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170432"/>
            <a:ext cx="54864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243584"/>
            <a:ext cx="493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1170432"/>
            <a:ext cx="1572768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1243584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Methodology / Algorithm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170432"/>
            <a:ext cx="132588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9952" y="1243584"/>
            <a:ext cx="1271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Result /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170432"/>
            <a:ext cx="1600200" cy="438912"/>
          </a:xfrm>
          <a:prstGeom prst="rect">
            <a:avLst/>
          </a:prstGeom>
          <a:solidFill>
            <a:srgbClr val="09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1243584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1609344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1664208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1609344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1664208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Cybersecurity Data Science: An Overview from Machine Learning Perspective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1609344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22776" y="1664208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Journal / survey literature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1609344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1664208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1609344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95744" y="1664208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ML for cybersecurity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1609344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69096" y="1664208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ML-based cybersecurity overview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1609344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86415" y="1664208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Broad scope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450592"/>
            <a:ext cx="25603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" y="2505456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2450592"/>
            <a:ext cx="3063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" y="2505456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An Empirical Evaluation of Ensemble Learning for Intrusion Detection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2450592"/>
            <a:ext cx="24871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22776" y="2505456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Journal literature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2450592"/>
            <a:ext cx="548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83096" y="2505456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2450592"/>
            <a:ext cx="15727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95744" y="2505456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Ensemble 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2450592"/>
            <a:ext cx="13258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69096" y="2505456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Ensemble IDS performance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2450592"/>
            <a:ext cx="16002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86415" y="2505456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Performance-focused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291840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" y="3346704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3291840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8" y="3346704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A Survey of Data Mining and Machine Learning Methods for Cyber Security Intrusion Detection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6200" y="3291840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22776" y="3346704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IEEE Communications Surveys &amp; Tutorials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46520" y="3291840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83096" y="3346704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291840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95744" y="3346704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ML / data mining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32520" y="3291840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69096" y="3346704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IDS ML methods survey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291840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86415" y="3346704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Older survey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133088"/>
            <a:ext cx="25603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8056" y="4187952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" y="4133088"/>
            <a:ext cx="3063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9808" y="4187952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Outside the Closed World: On Using Machine Learning for Network Intrusion Detection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86200" y="4133088"/>
            <a:ext cx="24871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922776" y="4187952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IEEE Symposium on Security and Privacy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46520" y="4133088"/>
            <a:ext cx="548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83096" y="4187952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9168" y="4133088"/>
            <a:ext cx="157276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95744" y="4187952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ML for NIDS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32520" y="4133088"/>
            <a:ext cx="13258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69096" y="4187952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Challenges of ML in operational NIDS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4133088"/>
            <a:ext cx="16002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86415" y="4187952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Older foundational work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4974336"/>
            <a:ext cx="256032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8056" y="5029200"/>
            <a:ext cx="182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3232" y="4974336"/>
            <a:ext cx="30632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9808" y="5029200"/>
            <a:ext cx="2990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The Role of Machine Learning in Cybersecurity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86200" y="4974336"/>
            <a:ext cx="24871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22776" y="5029200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Digital Threats: Research and Practice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46520" y="4974336"/>
            <a:ext cx="54864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83096" y="5029200"/>
            <a:ext cx="475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2023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9168" y="4974336"/>
            <a:ext cx="1572768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95744" y="5029200"/>
            <a:ext cx="14996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ML cybersecurity survey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732520" y="4974336"/>
            <a:ext cx="132588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69096" y="5029200"/>
            <a:ext cx="1252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ML opportunities and limitations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49840" y="4974336"/>
            <a:ext cx="1600200" cy="841248"/>
          </a:xfrm>
          <a:prstGeom prst="rect">
            <a:avLst/>
          </a:prstGeom>
          <a:solidFill>
            <a:srgbClr val="EFF4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186415" y="5029200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22B36"/>
                </a:solidFill>
                <a:latin typeface="Aptos"/>
              </a:defRPr>
            </a:pPr>
            <a:r>
              <a:t>Broad cybersecurity scope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Research / Technical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94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222B36"/>
                </a:solidFill>
                <a:latin typeface="Aptos"/>
              </a:defRPr>
            </a:pPr>
            <a:r>
              <a:t>• Existing XAI-IDS work demonstrates explanation methods, but scope can be limited to particular models and explainers.</a:t>
            </a:r>
          </a:p>
          <a:p>
            <a:pPr>
              <a:spcAft>
                <a:spcPts val="700"/>
              </a:spcAft>
              <a:defRPr sz="1320">
                <a:solidFill>
                  <a:srgbClr val="222B36"/>
                </a:solidFill>
                <a:latin typeface="Aptos"/>
              </a:defRPr>
            </a:pPr>
            <a:r>
              <a:t>• Predictive performance does not fully represent operational suitability.</a:t>
            </a:r>
          </a:p>
          <a:p>
            <a:pPr>
              <a:spcAft>
                <a:spcPts val="700"/>
              </a:spcAft>
              <a:defRPr sz="1320">
                <a:solidFill>
                  <a:srgbClr val="222B36"/>
                </a:solidFill>
                <a:latin typeface="Aptos"/>
              </a:defRPr>
            </a:pPr>
            <a:r>
              <a:t>• Explanation quality, stability and computational cost need explicit consideration.</a:t>
            </a:r>
          </a:p>
          <a:p>
            <a:pPr>
              <a:spcAft>
                <a:spcPts val="700"/>
              </a:spcAft>
              <a:defRPr sz="1320">
                <a:solidFill>
                  <a:srgbClr val="222B36"/>
                </a:solidFill>
                <a:latin typeface="Aptos"/>
              </a:defRPr>
            </a:pPr>
            <a:r>
              <a:t>• AI + XAI combinations require comparable evaluation under a common experimental setup.</a:t>
            </a:r>
          </a:p>
          <a:p>
            <a:pPr>
              <a:spcAft>
                <a:spcPts val="700"/>
              </a:spcAft>
              <a:defRPr sz="1320">
                <a:solidFill>
                  <a:srgbClr val="222B36"/>
                </a:solidFill>
                <a:latin typeface="Aptos"/>
              </a:defRPr>
            </a:pPr>
            <a:r>
              <a:t>• Different environments may value different properties such as recall, latency or resource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16636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55664" y="1298448"/>
            <a:ext cx="487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59CCF"/>
                </a:solidFill>
                <a:latin typeface="Aptos"/>
              </a:defRPr>
            </a:pPr>
            <a:r>
              <a:t>PROPOSED NOVELTY /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645920"/>
            <a:ext cx="487375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B36"/>
                </a:solidFill>
                <a:latin typeface="Aptos"/>
              </a:defRPr>
            </a:pPr>
            <a:r>
              <a:t>Extend the base-paper direction into a broader evaluation framework:</a:t>
            </a:r>
            <a:br/>
            <a:br/>
            <a:r>
              <a:t>Multiple AI models</a:t>
            </a:r>
            <a:br/>
            <a:r>
              <a:t>+</a:t>
            </a:r>
            <a:br/>
            <a:r>
              <a:t>Multiple XAI methods</a:t>
            </a:r>
            <a:br/>
            <a:r>
              <a:t>+</a:t>
            </a:r>
            <a:br/>
            <a:r>
              <a:t>Explanation evaluation</a:t>
            </a:r>
            <a:br/>
            <a:r>
              <a:t>+</a:t>
            </a:r>
            <a:br/>
            <a:r>
              <a:t>Robustness / stability</a:t>
            </a:r>
            <a:br/>
            <a:r>
              <a:t>+</a:t>
            </a:r>
            <a:br/>
            <a:r>
              <a:t>Runtime / resource usage</a:t>
            </a:r>
            <a:br/>
            <a:r>
              <a:t>+</a:t>
            </a:r>
            <a:br/>
            <a:r>
              <a:t>Scenario-based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959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91F37"/>
                </a:solidFill>
                <a:latin typeface="Aptos"/>
              </a:defRPr>
            </a:pPr>
            <a:r>
              <a:t>Gap → unified, evidence-based comparison of AI + XAI combinations for trustworthy cyber threat detection.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Proposed Methodology / Approach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19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Cyber Dataset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6192" y="2491740"/>
            <a:ext cx="128016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64207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19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09928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Preprocess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39" y="2491740"/>
            <a:ext cx="128017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62656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34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08375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Train AI Models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33087" y="2491740"/>
            <a:ext cx="128016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61104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34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6824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Predict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31536" y="2491740"/>
            <a:ext cx="128016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59552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05272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Apply XAI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29984" y="2491740"/>
            <a:ext cx="128016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0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Evaluate Explanations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28431" y="2491740"/>
            <a:ext cx="128017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56448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D2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8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Evaluate Robustness &amp; Efficiency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0" y="2491740"/>
            <a:ext cx="128016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54896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0616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Trust-Oriented Comparison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25328" y="2491740"/>
            <a:ext cx="128016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753344" y="1920240"/>
            <a:ext cx="1170432" cy="1143000"/>
          </a:xfrm>
          <a:prstGeom prst="roundRect">
            <a:avLst/>
          </a:prstGeom>
          <a:solidFill>
            <a:srgbClr val="EFF4F9"/>
          </a:solidFill>
          <a:ln w="19050">
            <a:solidFill>
              <a:srgbClr val="19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99064" y="2130552"/>
            <a:ext cx="1078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091F37"/>
                </a:solidFill>
                <a:latin typeface="Aptos"/>
              </a:defRPr>
            </a:pPr>
            <a:r>
              <a:t>Scenario Recommendation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74519" y="3749039"/>
            <a:ext cx="8412480" cy="1188720"/>
          </a:xfrm>
          <a:prstGeom prst="roundRect">
            <a:avLst/>
          </a:prstGeom>
          <a:solidFill>
            <a:srgbClr val="EFF4F9"/>
          </a:solidFill>
          <a:ln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20824" y="3858768"/>
            <a:ext cx="81198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59CCF"/>
                </a:solidFill>
                <a:latin typeface="Aptos"/>
              </a:defRPr>
            </a:pPr>
            <a:r>
              <a:t>EVALUATION LAYERS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0824" y="4206240"/>
            <a:ext cx="811987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Detection: Accuracy • Precision • Recall • F1 • AUC   |   XAI: Fidelity • Stability • Consistency • Runtime   |   System: Time • Memory • CPU/GPU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Hardware / Software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49240" cy="4663440"/>
          </a:xfrm>
          <a:prstGeom prst="roundRect">
            <a:avLst/>
          </a:prstGeom>
          <a:solidFill>
            <a:srgbClr val="EFF4F9"/>
          </a:solidFill>
          <a:ln>
            <a:solidFill>
              <a:srgbClr val="19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1344168"/>
            <a:ext cx="5056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95BA5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1691640"/>
            <a:ext cx="5056631" cy="4096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B36"/>
                </a:solidFill>
                <a:latin typeface="Aptos"/>
              </a:defRPr>
            </a:pPr>
            <a:r>
              <a:t>• Multi-core CPU (Core i5 / Ryzen 5 class or better)</a:t>
            </a:r>
            <a:br/>
            <a:r>
              <a:t>• 16 GB RAM recommended</a:t>
            </a:r>
            <a:br/>
            <a:r>
              <a:t>• SSD storage, 256 GB+</a:t>
            </a:r>
            <a:br/>
            <a:r>
              <a:t>• Windows 10/11 or Linux</a:t>
            </a:r>
            <a:br/>
            <a:r>
              <a:t>• Internet access for datasets / packages</a:t>
            </a:r>
            <a:br/>
            <a:r>
              <a:t>• Optional NVIDIA GPU for neural-network experiments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349240" cy="4663440"/>
          </a:xfrm>
          <a:prstGeom prst="roundRect">
            <a:avLst/>
          </a:prstGeom>
          <a:solidFill>
            <a:srgbClr val="EFF4F9"/>
          </a:solidFill>
          <a:ln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344168"/>
            <a:ext cx="5056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59CCF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691640"/>
            <a:ext cx="5056631" cy="4096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B36"/>
                </a:solidFill>
                <a:latin typeface="Aptos"/>
              </a:defRPr>
            </a:pPr>
            <a:r>
              <a:t>• Python 3.10+</a:t>
            </a:r>
            <a:br/>
            <a:r>
              <a:t>• Jupyter Notebook / VS Code</a:t>
            </a:r>
            <a:br/>
            <a:r>
              <a:t>• Pandas, NumPy, Scikit-learn</a:t>
            </a:r>
            <a:br/>
            <a:r>
              <a:t>• XGBoost, LightGBM, CatBoost</a:t>
            </a:r>
            <a:br/>
            <a:r>
              <a:t>• SHAP, LIME, Alibi</a:t>
            </a:r>
            <a:br/>
            <a:r>
              <a:t>• Matplotlib, Seaborn, Plotly</a:t>
            </a:r>
            <a:br/>
            <a:r>
              <a:t>• Optional Streamlit for dashboard</a:t>
            </a:r>
            <a:br/>
            <a:r>
              <a:t>• Git /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Time line / Gantt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Literature review + gap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115568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0" y="1115568"/>
            <a:ext cx="1645920" cy="283464"/>
          </a:xfrm>
          <a:prstGeom prst="round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0" y="110642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Aug–Sep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7007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Dataset selection + preprocessing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700784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06340" y="1700784"/>
            <a:ext cx="1828800" cy="283464"/>
          </a:xfrm>
          <a:prstGeom prst="roundRect">
            <a:avLst/>
          </a:prstGeom>
          <a:solidFill>
            <a:srgbClr val="25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0" y="169163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Sep–Oct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Baseline AI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286000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40680" y="2286000"/>
            <a:ext cx="1828800" cy="283464"/>
          </a:xfrm>
          <a:prstGeom prst="roundRect">
            <a:avLst/>
          </a:prstGeom>
          <a:solidFill>
            <a:srgbClr val="34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0" y="22768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Oct–Nov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7121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XAI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871215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62472" y="2859944"/>
            <a:ext cx="1737360" cy="283464"/>
          </a:xfrm>
          <a:prstGeom prst="round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0" y="28620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Nov–Dec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4564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Explanation + robustness evaluation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456432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43700" y="3465576"/>
            <a:ext cx="2011680" cy="283464"/>
          </a:xfrm>
          <a:prstGeom prst="roundRect">
            <a:avLst/>
          </a:prstGeom>
          <a:solidFill>
            <a:srgbClr val="D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0" y="344728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Dec 2026–Jan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0416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Comparative analysis + trust methodology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041648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543800" y="4039521"/>
            <a:ext cx="2286000" cy="283464"/>
          </a:xfrm>
          <a:prstGeom prst="roundRect">
            <a:avLst/>
          </a:prstGeom>
          <a:solidFill>
            <a:srgbClr val="259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0" y="40325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Jan–Feb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6268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Dashboard + testing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626864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206740" y="4638135"/>
            <a:ext cx="1371600" cy="283464"/>
          </a:xfrm>
          <a:prstGeom prst="roundRect">
            <a:avLst/>
          </a:prstGeom>
          <a:solidFill>
            <a:srgbClr val="34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0" y="46177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Feb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212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B36"/>
                </a:solidFill>
                <a:latin typeface="Aptos"/>
              </a:defRPr>
            </a:pPr>
            <a:r>
              <a:t>Paper + final documentation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5212080"/>
            <a:ext cx="6309360" cy="283464"/>
          </a:xfrm>
          <a:prstGeom prst="roundRect">
            <a:avLst/>
          </a:prstGeom>
          <a:solidFill>
            <a:srgbClr val="EFF4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961120" y="5202936"/>
            <a:ext cx="1920240" cy="283464"/>
          </a:xfrm>
          <a:prstGeom prst="round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72800" y="52029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70" b="0">
                <a:solidFill>
                  <a:srgbClr val="646E78"/>
                </a:solidFill>
                <a:latin typeface="Aptos"/>
              </a:defRPr>
            </a:pPr>
            <a:r>
              <a:t>Feb–Mar 2027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30">
                <a:solidFill>
                  <a:srgbClr val="222B36"/>
                </a:solidFill>
                <a:latin typeface="Aptos"/>
              </a:defRPr>
            </a:pPr>
            <a:r>
              <a:t>• Comparative benchmark of selected AI models for cyber threat detection.</a:t>
            </a:r>
          </a:p>
          <a:p>
            <a:pPr>
              <a:spcAft>
                <a:spcPts val="700"/>
              </a:spcAft>
              <a:defRPr sz="1330">
                <a:solidFill>
                  <a:srgbClr val="222B36"/>
                </a:solidFill>
                <a:latin typeface="Aptos"/>
              </a:defRPr>
            </a:pPr>
            <a:r>
              <a:t>• Comparative analysis of selected XAI techniques.</a:t>
            </a:r>
          </a:p>
          <a:p>
            <a:pPr>
              <a:spcAft>
                <a:spcPts val="700"/>
              </a:spcAft>
              <a:defRPr sz="1330">
                <a:solidFill>
                  <a:srgbClr val="222B36"/>
                </a:solidFill>
                <a:latin typeface="Aptos"/>
              </a:defRPr>
            </a:pPr>
            <a:r>
              <a:t>• Local and global explanation outputs.</a:t>
            </a:r>
          </a:p>
          <a:p>
            <a:pPr>
              <a:spcAft>
                <a:spcPts val="700"/>
              </a:spcAft>
              <a:defRPr sz="1330">
                <a:solidFill>
                  <a:srgbClr val="222B36"/>
                </a:solidFill>
                <a:latin typeface="Aptos"/>
              </a:defRPr>
            </a:pPr>
            <a:r>
              <a:t>• Quantitative and qualitative explanation evaluation where feasible.</a:t>
            </a:r>
          </a:p>
          <a:p>
            <a:pPr>
              <a:spcAft>
                <a:spcPts val="700"/>
              </a:spcAft>
              <a:defRPr sz="1330">
                <a:solidFill>
                  <a:srgbClr val="222B36"/>
                </a:solidFill>
                <a:latin typeface="Aptos"/>
              </a:defRPr>
            </a:pPr>
            <a:r>
              <a:t>• Robustness, stability and efficiency analysis.</a:t>
            </a:r>
          </a:p>
          <a:p>
            <a:pPr>
              <a:spcAft>
                <a:spcPts val="700"/>
              </a:spcAft>
              <a:defRPr sz="1330">
                <a:solidFill>
                  <a:srgbClr val="222B36"/>
                </a:solidFill>
                <a:latin typeface="Aptos"/>
              </a:defRPr>
            </a:pPr>
            <a:r>
              <a:t>• Trust-oriented comparison methodology.</a:t>
            </a:r>
          </a:p>
          <a:p>
            <a:pPr>
              <a:spcAft>
                <a:spcPts val="700"/>
              </a:spcAft>
              <a:defRPr sz="1330">
                <a:solidFill>
                  <a:srgbClr val="222B36"/>
                </a:solidFill>
                <a:latin typeface="Aptos"/>
              </a:defRPr>
            </a:pPr>
            <a:r>
              <a:t>• Scenario-based recommendation of suitable AI + XAI combinations.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029200" cy="4800600"/>
          </a:xfrm>
          <a:prstGeom prst="roundRect">
            <a:avLst/>
          </a:prstGeom>
          <a:solidFill>
            <a:srgbClr val="EFF4F9"/>
          </a:solidFill>
          <a:ln>
            <a:solidFill>
              <a:srgbClr val="259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7104" y="1298448"/>
            <a:ext cx="473659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59CCF"/>
                </a:solidFill>
                <a:latin typeface="Aptos"/>
              </a:defRPr>
            </a:pPr>
            <a:r>
              <a:rPr lang="en-US" dirty="0"/>
              <a:t>	</a:t>
            </a:r>
            <a:r>
              <a:rPr dirty="0"/>
              <a:t>EXPECTED APPLICATION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645920"/>
            <a:ext cx="4736592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B36"/>
                </a:solidFill>
                <a:latin typeface="Aptos"/>
              </a:defRPr>
            </a:pPr>
            <a:r>
              <a:t>• Support security analysts in interpreting alerts.</a:t>
            </a:r>
            <a:br/>
            <a:r>
              <a:t>• Help organizations choose models according to deployment constraints.</a:t>
            </a:r>
            <a:br/>
            <a:r>
              <a:t>• Provide a repeatable evaluation workflow for AI + XAI IDS research.</a:t>
            </a:r>
            <a:br/>
            <a:r>
              <a:t>• Optional dashboard for prediction + explanation + recommendation.</a:t>
            </a:r>
            <a:br/>
            <a:br/>
            <a:r>
              <a:t>All performance values will be reported only after experiments are completed.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10642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[1] D. Gaspar, P. Silva, and C. Silva, “Explainable AI for Intrusion Detection Systems: LIME and SHAP Applicability on Multi-Layer Perceptron,” IEEE Access, vol. 12, pp. 30164–30175, 2024, doi: 10.1109/ACCESS.2024.3368377.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[2] M. T. Ribeiro, S. Singh, and C. Guestrin, “Why Should I Trust You? Explaining the Predictions of Any Classifier,” Proc. KDD, 2016.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[3] S. M. Lundberg and S.-I. Lee, “A Unified Approach to Interpreting Model Predictions,” Proc. NeurIPS, 2017.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[4] A. B. Arrieta et al., “Explainable Artificial Intelligence (XAI): Concepts, Taxonomies, Opportunities and Challenges toward Responsible AI,” Information Fusion, 2020.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[5] R. Guidotti et al., “A Survey of Methods for Explaining Black Box Models,” ACM Computing Surveys, 2018.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[6] M. Ring et al., “A Survey of Network-based Intrusion Detection Data Sets,” Computers &amp; Security, 2019.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[7] N. Moustafa and J. Slay, “UNSW-NB15: a comprehensive data set for network intrusion detection systems,” MilCIS, 2015.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[8] I. Sharafaldin, A. H. Lashkari, and A. A. Ghorbani, “Toward Generating a New Intrusion Detection Dataset and Intrusion Traffic Characterization,” ICISSP, 2018.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[9] A. L. Buczak and E. Guven, “A Survey of Data Mining and Machine Learning Methods for Cyber Security Intrusion Detection,” IEEE Communications Surveys &amp; Tutorials, 2016.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[10] R. Sommer and V. Paxson, “Outside the Closed World: On Using Machine Learning for Network Intrusion Detection,” IEEE S&amp;P, 2010.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[11] A. Apruzzese et al., “The Role of Machine Learning in Cybersecurity,” Digital Threats: Research and Practice, 2023.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[12] S. Sarker et al., “Cybersecurity Data Science: An Overview from Machine Learning Perspective,” 2020.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[13] E. Ferrag et al., “Deep Learning for Cyber Security Intrusion Detection: Approaches, Datasets, and Comparative Study,” 2020.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[14] H. J. Ring et al., network intrusion detection dataset survey literature, 2019.</a:t>
            </a:r>
          </a:p>
          <a:p>
            <a:pPr>
              <a:spcAft>
                <a:spcPts val="700"/>
              </a:spcAft>
              <a:defRPr sz="860">
                <a:solidFill>
                  <a:srgbClr val="222B36"/>
                </a:solidFill>
                <a:latin typeface="Aptos"/>
              </a:defRPr>
            </a:pPr>
            <a:r>
              <a:t>• [15] C. Molnar, Interpretable Machine Learning, online reference / book, current edition.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4476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6E78"/>
                </a:solidFill>
                <a:latin typeface="Aptos"/>
              </a:defRPr>
            </a:pPr>
            <a:r>
              <a:t>Note: Final submission should verify all bibliographic metadata against IEEE Xplore / publisher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9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Department of CSE (Cyber 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85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FFFFFF"/>
                </a:solidFill>
                <a:latin typeface="Aptos"/>
              </a:defRPr>
            </a:pPr>
            <a:r>
              <a:t>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685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FFFFFF"/>
                </a:solidFill>
                <a:latin typeface="Aptos"/>
              </a:defRPr>
            </a:pPr>
            <a:r>
              <a:t>Date: 27.08.2026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48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646E78"/>
                </a:solidFill>
                <a:latin typeface="Aptos"/>
              </a:defRPr>
            </a:pPr>
            <a:r>
              <a:t>SRM Madurai College for Engg &amp;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4805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646E78"/>
                </a:solidFill>
                <a:latin typeface="Aptos"/>
              </a:defRPr>
            </a:pPr>
            <a:r>
              <a:t>Academic Year 2026-2027 | Project Batch No.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"/>
            <a:ext cx="12191695" cy="27432"/>
          </a:xfrm>
          <a:prstGeom prst="rect">
            <a:avLst/>
          </a:prstGeom>
          <a:solidFill>
            <a:srgbClr val="19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95BA5"/>
                </a:solidFill>
                <a:latin typeface="Aptos"/>
              </a:defRPr>
            </a:pPr>
            <a:r>
              <a:t>TRUSTXAI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91F37"/>
                </a:solidFill>
                <a:latin typeface="Aptos"/>
              </a:defRPr>
            </a:pPr>
            <a:r>
              <a:t>From accurate detection → explainable decisions → trustworthy cybersecurity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9CC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E78"/>
                </a:solidFill>
                <a:latin typeface="Aptos"/>
              </a:defRPr>
            </a:pPr>
            <a:r>
              <a:t>First Review • 27.08.2026 • Mr. S. Karuppasamy Pandian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6592824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646E78"/>
                </a:solidFill>
                <a:latin typeface="Aptos"/>
              </a:defRPr>
            </a:pPr>
            <a:r>
              <a:t>TRUSTXAI • FIRST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745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646E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2590</Words>
  <Application>Microsoft Office PowerPoint</Application>
  <PresentationFormat>Widescreen</PresentationFormat>
  <Paragraphs>379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GOOGLE. PLAYSTORE.</cp:lastModifiedBy>
  <cp:revision>5</cp:revision>
  <dcterms:created xsi:type="dcterms:W3CDTF">2013-01-27T09:14:16Z</dcterms:created>
  <dcterms:modified xsi:type="dcterms:W3CDTF">2026-08-26T16:52:47Z</dcterms:modified>
  <cp:category/>
</cp:coreProperties>
</file>